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vari Puranik" userId="a3e63a6189b80d9c" providerId="LiveId" clId="{2B37F7A3-1CE4-4F39-8415-80AD7AC967E0}"/>
    <pc:docChg chg="undo custSel modSld">
      <pc:chgData name="Sharvari Puranik" userId="a3e63a6189b80d9c" providerId="LiveId" clId="{2B37F7A3-1CE4-4F39-8415-80AD7AC967E0}" dt="2026-07-02T17:39:15.869" v="51" actId="26606"/>
      <pc:docMkLst>
        <pc:docMk/>
      </pc:docMkLst>
      <pc:sldChg chg="modSp mod">
        <pc:chgData name="Sharvari Puranik" userId="a3e63a6189b80d9c" providerId="LiveId" clId="{2B37F7A3-1CE4-4F39-8415-80AD7AC967E0}" dt="2026-07-02T17:38:34.677" v="48" actId="27636"/>
        <pc:sldMkLst>
          <pc:docMk/>
          <pc:sldMk cId="2020819593" sldId="256"/>
        </pc:sldMkLst>
        <pc:spChg chg="mod">
          <ac:chgData name="Sharvari Puranik" userId="a3e63a6189b80d9c" providerId="LiveId" clId="{2B37F7A3-1CE4-4F39-8415-80AD7AC967E0}" dt="2026-07-02T17:38:34.677" v="48" actId="27636"/>
          <ac:spMkLst>
            <pc:docMk/>
            <pc:sldMk cId="2020819593" sldId="256"/>
            <ac:spMk id="3" creationId="{6B955AE2-F58B-D896-E429-6B17D0C96D03}"/>
          </ac:spMkLst>
        </pc:spChg>
      </pc:sldChg>
      <pc:sldChg chg="addSp delSp mod">
        <pc:chgData name="Sharvari Puranik" userId="a3e63a6189b80d9c" providerId="LiveId" clId="{2B37F7A3-1CE4-4F39-8415-80AD7AC967E0}" dt="2026-07-02T17:39:15.869" v="51" actId="26606"/>
        <pc:sldMkLst>
          <pc:docMk/>
          <pc:sldMk cId="2404921314" sldId="257"/>
        </pc:sldMkLst>
        <pc:spChg chg="add del">
          <ac:chgData name="Sharvari Puranik" userId="a3e63a6189b80d9c" providerId="LiveId" clId="{2B37F7A3-1CE4-4F39-8415-80AD7AC967E0}" dt="2026-07-02T17:39:15.869" v="51" actId="26606"/>
          <ac:spMkLst>
            <pc:docMk/>
            <pc:sldMk cId="2404921314" sldId="257"/>
            <ac:spMk id="3" creationId="{D456C237-4BB6-1545-4215-1CF62CC73441}"/>
          </ac:spMkLst>
        </pc:spChg>
        <pc:graphicFrameChg chg="add del">
          <ac:chgData name="Sharvari Puranik" userId="a3e63a6189b80d9c" providerId="LiveId" clId="{2B37F7A3-1CE4-4F39-8415-80AD7AC967E0}" dt="2026-07-02T17:39:15.846" v="50" actId="26606"/>
          <ac:graphicFrameMkLst>
            <pc:docMk/>
            <pc:sldMk cId="2404921314" sldId="257"/>
            <ac:graphicFrameMk id="26" creationId="{424A7798-751F-36F5-1751-20EC970031AB}"/>
          </ac:graphicFrameMkLst>
        </pc:graphicFrameChg>
        <pc:graphicFrameChg chg="add">
          <ac:chgData name="Sharvari Puranik" userId="a3e63a6189b80d9c" providerId="LiveId" clId="{2B37F7A3-1CE4-4F39-8415-80AD7AC967E0}" dt="2026-07-02T17:39:15.869" v="51" actId="26606"/>
          <ac:graphicFrameMkLst>
            <pc:docMk/>
            <pc:sldMk cId="2404921314" sldId="257"/>
            <ac:graphicFrameMk id="28" creationId="{8D0EDC8C-7F33-4E0C-7BC5-470E3A462A77}"/>
          </ac:graphicFrameMkLst>
        </pc:graphicFrameChg>
      </pc:sldChg>
      <pc:sldChg chg="addSp delSp modSp mod">
        <pc:chgData name="Sharvari Puranik" userId="a3e63a6189b80d9c" providerId="LiveId" clId="{2B37F7A3-1CE4-4F39-8415-80AD7AC967E0}" dt="2026-07-02T17:31:01.475" v="7" actId="14100"/>
        <pc:sldMkLst>
          <pc:docMk/>
          <pc:sldMk cId="2586045921" sldId="266"/>
        </pc:sldMkLst>
        <pc:spChg chg="add del mod">
          <ac:chgData name="Sharvari Puranik" userId="a3e63a6189b80d9c" providerId="LiveId" clId="{2B37F7A3-1CE4-4F39-8415-80AD7AC967E0}" dt="2026-07-02T17:30:42.480" v="1" actId="931"/>
          <ac:spMkLst>
            <pc:docMk/>
            <pc:sldMk cId="2586045921" sldId="266"/>
            <ac:spMk id="19" creationId="{9CC5A2D7-FD0A-B44C-5BD1-E120C2C0A643}"/>
          </ac:spMkLst>
        </pc:spChg>
        <pc:picChg chg="del">
          <ac:chgData name="Sharvari Puranik" userId="a3e63a6189b80d9c" providerId="LiveId" clId="{2B37F7A3-1CE4-4F39-8415-80AD7AC967E0}" dt="2026-07-02T17:30:35.779" v="0" actId="478"/>
          <ac:picMkLst>
            <pc:docMk/>
            <pc:sldMk cId="2586045921" sldId="266"/>
            <ac:picMk id="17" creationId="{B71CCCF7-A042-76B7-7B68-E74A10095CED}"/>
          </ac:picMkLst>
        </pc:picChg>
        <pc:picChg chg="add mod ord">
          <ac:chgData name="Sharvari Puranik" userId="a3e63a6189b80d9c" providerId="LiveId" clId="{2B37F7A3-1CE4-4F39-8415-80AD7AC967E0}" dt="2026-07-02T17:31:01.475" v="7" actId="14100"/>
          <ac:picMkLst>
            <pc:docMk/>
            <pc:sldMk cId="2586045921" sldId="266"/>
            <ac:picMk id="21" creationId="{DAF21CEC-F526-6DFA-4AD7-DA61E235FD9D}"/>
          </ac:picMkLst>
        </pc:picChg>
      </pc:sldChg>
      <pc:sldChg chg="addSp delSp modSp mod">
        <pc:chgData name="Sharvari Puranik" userId="a3e63a6189b80d9c" providerId="LiveId" clId="{2B37F7A3-1CE4-4F39-8415-80AD7AC967E0}" dt="2026-07-02T17:32:00.032" v="14" actId="14100"/>
        <pc:sldMkLst>
          <pc:docMk/>
          <pc:sldMk cId="2116849299" sldId="267"/>
        </pc:sldMkLst>
        <pc:spChg chg="add del mod">
          <ac:chgData name="Sharvari Puranik" userId="a3e63a6189b80d9c" providerId="LiveId" clId="{2B37F7A3-1CE4-4F39-8415-80AD7AC967E0}" dt="2026-07-02T17:31:44.575" v="9" actId="931"/>
          <ac:spMkLst>
            <pc:docMk/>
            <pc:sldMk cId="2116849299" sldId="267"/>
            <ac:spMk id="42" creationId="{4535E640-A3F3-5A9E-FA7D-2A6101297D41}"/>
          </ac:spMkLst>
        </pc:spChg>
        <pc:picChg chg="del">
          <ac:chgData name="Sharvari Puranik" userId="a3e63a6189b80d9c" providerId="LiveId" clId="{2B37F7A3-1CE4-4F39-8415-80AD7AC967E0}" dt="2026-07-02T17:31:37.910" v="8" actId="478"/>
          <ac:picMkLst>
            <pc:docMk/>
            <pc:sldMk cId="2116849299" sldId="267"/>
            <ac:picMk id="14" creationId="{1ADB905C-9E48-2BF4-EA3A-6E2FE5694198}"/>
          </ac:picMkLst>
        </pc:picChg>
        <pc:picChg chg="add mod ord">
          <ac:chgData name="Sharvari Puranik" userId="a3e63a6189b80d9c" providerId="LiveId" clId="{2B37F7A3-1CE4-4F39-8415-80AD7AC967E0}" dt="2026-07-02T17:32:00.032" v="14" actId="14100"/>
          <ac:picMkLst>
            <pc:docMk/>
            <pc:sldMk cId="2116849299" sldId="267"/>
            <ac:picMk id="46" creationId="{91C564E8-1B20-AB2B-D511-54D24967E95C}"/>
          </ac:picMkLst>
        </pc:picChg>
      </pc:sldChg>
      <pc:sldChg chg="addSp delSp modSp mod">
        <pc:chgData name="Sharvari Puranik" userId="a3e63a6189b80d9c" providerId="LiveId" clId="{2B37F7A3-1CE4-4F39-8415-80AD7AC967E0}" dt="2026-07-02T17:32:47.673" v="20" actId="14100"/>
        <pc:sldMkLst>
          <pc:docMk/>
          <pc:sldMk cId="2120981388" sldId="268"/>
        </pc:sldMkLst>
        <pc:spChg chg="add del mod">
          <ac:chgData name="Sharvari Puranik" userId="a3e63a6189b80d9c" providerId="LiveId" clId="{2B37F7A3-1CE4-4F39-8415-80AD7AC967E0}" dt="2026-07-02T17:32:33.032" v="16" actId="931"/>
          <ac:spMkLst>
            <pc:docMk/>
            <pc:sldMk cId="2120981388" sldId="268"/>
            <ac:spMk id="17" creationId="{F35189C8-4E6B-C1F8-20D3-845E13880B6E}"/>
          </ac:spMkLst>
        </pc:spChg>
        <pc:picChg chg="del">
          <ac:chgData name="Sharvari Puranik" userId="a3e63a6189b80d9c" providerId="LiveId" clId="{2B37F7A3-1CE4-4F39-8415-80AD7AC967E0}" dt="2026-07-02T17:32:26.831" v="15" actId="478"/>
          <ac:picMkLst>
            <pc:docMk/>
            <pc:sldMk cId="2120981388" sldId="268"/>
            <ac:picMk id="15" creationId="{FD510F80-2DB6-165E-473F-A3CEB934216E}"/>
          </ac:picMkLst>
        </pc:picChg>
        <pc:picChg chg="add mod ord">
          <ac:chgData name="Sharvari Puranik" userId="a3e63a6189b80d9c" providerId="LiveId" clId="{2B37F7A3-1CE4-4F39-8415-80AD7AC967E0}" dt="2026-07-02T17:32:47.673" v="20" actId="14100"/>
          <ac:picMkLst>
            <pc:docMk/>
            <pc:sldMk cId="2120981388" sldId="268"/>
            <ac:picMk id="19" creationId="{FC9F3281-7B45-E42C-4963-9CBCF6A2777B}"/>
          </ac:picMkLst>
        </pc:picChg>
      </pc:sldChg>
      <pc:sldChg chg="addSp delSp modSp mod">
        <pc:chgData name="Sharvari Puranik" userId="a3e63a6189b80d9c" providerId="LiveId" clId="{2B37F7A3-1CE4-4F39-8415-80AD7AC967E0}" dt="2026-07-02T17:33:34.060" v="26" actId="14100"/>
        <pc:sldMkLst>
          <pc:docMk/>
          <pc:sldMk cId="1259421279" sldId="269"/>
        </pc:sldMkLst>
        <pc:spChg chg="add del mod">
          <ac:chgData name="Sharvari Puranik" userId="a3e63a6189b80d9c" providerId="LiveId" clId="{2B37F7A3-1CE4-4F39-8415-80AD7AC967E0}" dt="2026-07-02T17:33:20.824" v="22" actId="931"/>
          <ac:spMkLst>
            <pc:docMk/>
            <pc:sldMk cId="1259421279" sldId="269"/>
            <ac:spMk id="16" creationId="{B404C93D-553E-0D7F-3D4E-0A6CDC28678E}"/>
          </ac:spMkLst>
        </pc:spChg>
        <pc:picChg chg="del">
          <ac:chgData name="Sharvari Puranik" userId="a3e63a6189b80d9c" providerId="LiveId" clId="{2B37F7A3-1CE4-4F39-8415-80AD7AC967E0}" dt="2026-07-02T17:33:15.292" v="21" actId="478"/>
          <ac:picMkLst>
            <pc:docMk/>
            <pc:sldMk cId="1259421279" sldId="269"/>
            <ac:picMk id="14" creationId="{28B45732-BD71-0D02-D54A-52DA8688C9BE}"/>
          </ac:picMkLst>
        </pc:picChg>
        <pc:picChg chg="add mod ord">
          <ac:chgData name="Sharvari Puranik" userId="a3e63a6189b80d9c" providerId="LiveId" clId="{2B37F7A3-1CE4-4F39-8415-80AD7AC967E0}" dt="2026-07-02T17:33:34.060" v="26" actId="14100"/>
          <ac:picMkLst>
            <pc:docMk/>
            <pc:sldMk cId="1259421279" sldId="269"/>
            <ac:picMk id="18" creationId="{72DCB341-7DDA-F8CC-2D69-8549F2D16F50}"/>
          </ac:picMkLst>
        </pc:picChg>
      </pc:sldChg>
      <pc:sldChg chg="addSp delSp modSp mod">
        <pc:chgData name="Sharvari Puranik" userId="a3e63a6189b80d9c" providerId="LiveId" clId="{2B37F7A3-1CE4-4F39-8415-80AD7AC967E0}" dt="2026-07-02T17:34:29.106" v="33" actId="14100"/>
        <pc:sldMkLst>
          <pc:docMk/>
          <pc:sldMk cId="797410771" sldId="270"/>
        </pc:sldMkLst>
        <pc:spChg chg="add del mod">
          <ac:chgData name="Sharvari Puranik" userId="a3e63a6189b80d9c" providerId="LiveId" clId="{2B37F7A3-1CE4-4F39-8415-80AD7AC967E0}" dt="2026-07-02T17:34:14.296" v="28" actId="931"/>
          <ac:spMkLst>
            <pc:docMk/>
            <pc:sldMk cId="797410771" sldId="270"/>
            <ac:spMk id="12" creationId="{27AFB949-6ED5-7924-A896-A1F8B3AEB664}"/>
          </ac:spMkLst>
        </pc:spChg>
        <pc:picChg chg="del">
          <ac:chgData name="Sharvari Puranik" userId="a3e63a6189b80d9c" providerId="LiveId" clId="{2B37F7A3-1CE4-4F39-8415-80AD7AC967E0}" dt="2026-07-02T17:34:07.953" v="27" actId="478"/>
          <ac:picMkLst>
            <pc:docMk/>
            <pc:sldMk cId="797410771" sldId="270"/>
            <ac:picMk id="10" creationId="{E178D997-8DDB-031A-8C03-EF1AA1D16EBC}"/>
          </ac:picMkLst>
        </pc:picChg>
        <pc:picChg chg="add mod ord">
          <ac:chgData name="Sharvari Puranik" userId="a3e63a6189b80d9c" providerId="LiveId" clId="{2B37F7A3-1CE4-4F39-8415-80AD7AC967E0}" dt="2026-07-02T17:34:29.106" v="33" actId="14100"/>
          <ac:picMkLst>
            <pc:docMk/>
            <pc:sldMk cId="797410771" sldId="270"/>
            <ac:picMk id="14" creationId="{10516414-BBD2-3730-BFA7-C5756114AEEF}"/>
          </ac:picMkLst>
        </pc:picChg>
      </pc:sldChg>
      <pc:sldChg chg="addSp delSp modSp mod">
        <pc:chgData name="Sharvari Puranik" userId="a3e63a6189b80d9c" providerId="LiveId" clId="{2B37F7A3-1CE4-4F39-8415-80AD7AC967E0}" dt="2026-07-02T17:35:04.713" v="39" actId="14100"/>
        <pc:sldMkLst>
          <pc:docMk/>
          <pc:sldMk cId="2316105193" sldId="271"/>
        </pc:sldMkLst>
        <pc:spChg chg="add del mod">
          <ac:chgData name="Sharvari Puranik" userId="a3e63a6189b80d9c" providerId="LiveId" clId="{2B37F7A3-1CE4-4F39-8415-80AD7AC967E0}" dt="2026-07-02T17:34:53.860" v="35" actId="931"/>
          <ac:spMkLst>
            <pc:docMk/>
            <pc:sldMk cId="2316105193" sldId="271"/>
            <ac:spMk id="12" creationId="{36BA9ABE-20B5-2264-EDEF-94308C75E3EA}"/>
          </ac:spMkLst>
        </pc:spChg>
        <pc:picChg chg="del">
          <ac:chgData name="Sharvari Puranik" userId="a3e63a6189b80d9c" providerId="LiveId" clId="{2B37F7A3-1CE4-4F39-8415-80AD7AC967E0}" dt="2026-07-02T17:34:47.193" v="34" actId="478"/>
          <ac:picMkLst>
            <pc:docMk/>
            <pc:sldMk cId="2316105193" sldId="271"/>
            <ac:picMk id="10" creationId="{2651166B-3C1D-64E5-3A13-65EFFF5E9724}"/>
          </ac:picMkLst>
        </pc:picChg>
        <pc:picChg chg="add mod ord">
          <ac:chgData name="Sharvari Puranik" userId="a3e63a6189b80d9c" providerId="LiveId" clId="{2B37F7A3-1CE4-4F39-8415-80AD7AC967E0}" dt="2026-07-02T17:35:04.713" v="39" actId="14100"/>
          <ac:picMkLst>
            <pc:docMk/>
            <pc:sldMk cId="2316105193" sldId="271"/>
            <ac:picMk id="14" creationId="{A2E4A05B-F15E-EF75-7FF9-5FB5441B1D64}"/>
          </ac:picMkLst>
        </pc:picChg>
      </pc:sldChg>
      <pc:sldChg chg="addSp delSp modSp mod">
        <pc:chgData name="Sharvari Puranik" userId="a3e63a6189b80d9c" providerId="LiveId" clId="{2B37F7A3-1CE4-4F39-8415-80AD7AC967E0}" dt="2026-07-02T17:35:45.282" v="46" actId="14100"/>
        <pc:sldMkLst>
          <pc:docMk/>
          <pc:sldMk cId="1286193062" sldId="272"/>
        </pc:sldMkLst>
        <pc:spChg chg="add del mod">
          <ac:chgData name="Sharvari Puranik" userId="a3e63a6189b80d9c" providerId="LiveId" clId="{2B37F7A3-1CE4-4F39-8415-80AD7AC967E0}" dt="2026-07-02T17:35:31.459" v="41" actId="931"/>
          <ac:spMkLst>
            <pc:docMk/>
            <pc:sldMk cId="1286193062" sldId="272"/>
            <ac:spMk id="12" creationId="{BEA84CCF-2C99-06FB-1A4B-7F5A548C14FC}"/>
          </ac:spMkLst>
        </pc:spChg>
        <pc:picChg chg="del">
          <ac:chgData name="Sharvari Puranik" userId="a3e63a6189b80d9c" providerId="LiveId" clId="{2B37F7A3-1CE4-4F39-8415-80AD7AC967E0}" dt="2026-07-02T17:35:25.314" v="40" actId="478"/>
          <ac:picMkLst>
            <pc:docMk/>
            <pc:sldMk cId="1286193062" sldId="272"/>
            <ac:picMk id="10" creationId="{551096A2-0372-41F6-B311-5B32A668A511}"/>
          </ac:picMkLst>
        </pc:picChg>
        <pc:picChg chg="add mod ord">
          <ac:chgData name="Sharvari Puranik" userId="a3e63a6189b80d9c" providerId="LiveId" clId="{2B37F7A3-1CE4-4F39-8415-80AD7AC967E0}" dt="2026-07-02T17:35:45.282" v="46" actId="14100"/>
          <ac:picMkLst>
            <pc:docMk/>
            <pc:sldMk cId="1286193062" sldId="272"/>
            <ac:picMk id="14" creationId="{DA0D8114-5791-30C6-4AD7-91585DFB4ADC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8ED21C-1579-42A3-B05D-1A06676A9E4B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71A5EA2-8323-4908-8CF2-6F300599D41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Businesses generate large amounts of sales data. </a:t>
          </a:r>
          <a:endParaRPr lang="en-US"/>
        </a:p>
      </dgm:t>
    </dgm:pt>
    <dgm:pt modelId="{CFC6B198-C018-4995-9507-8338C33AD5A8}" type="parTrans" cxnId="{5AB0C224-DABC-4A55-8ECF-22E81E4D5ACA}">
      <dgm:prSet/>
      <dgm:spPr/>
      <dgm:t>
        <a:bodyPr/>
        <a:lstStyle/>
        <a:p>
          <a:endParaRPr lang="en-US"/>
        </a:p>
      </dgm:t>
    </dgm:pt>
    <dgm:pt modelId="{DBBA32F5-85CD-4C6C-AC28-32AC6DDB7397}" type="sibTrans" cxnId="{5AB0C224-DABC-4A55-8ECF-22E81E4D5AC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AB4BA85-0F83-4DB2-BDEC-0DEAA746F25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But raw data alone cannot support decision-making. </a:t>
          </a:r>
          <a:endParaRPr lang="en-US"/>
        </a:p>
      </dgm:t>
    </dgm:pt>
    <dgm:pt modelId="{1F29DBD1-3DF0-4691-8E5D-F9B10B0DD609}" type="parTrans" cxnId="{EF0072AB-E988-40F6-B5EA-D6B737A3CA9F}">
      <dgm:prSet/>
      <dgm:spPr/>
      <dgm:t>
        <a:bodyPr/>
        <a:lstStyle/>
        <a:p>
          <a:endParaRPr lang="en-US"/>
        </a:p>
      </dgm:t>
    </dgm:pt>
    <dgm:pt modelId="{3A284F9E-3C86-4C38-8D2D-8226232650C0}" type="sibTrans" cxnId="{EF0072AB-E988-40F6-B5EA-D6B737A3CA9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145354C-DA9F-401A-9545-4C0F7932315F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This project analyzes sales trends, customer segments, product performance, and profit behavior to generate actionable insights.</a:t>
          </a:r>
          <a:endParaRPr lang="en-US"/>
        </a:p>
      </dgm:t>
    </dgm:pt>
    <dgm:pt modelId="{BE934985-D609-4412-9E88-E26DEAC08EF7}" type="parTrans" cxnId="{6F17A4F2-1B8E-4F99-AAC5-FA9D15AAA090}">
      <dgm:prSet/>
      <dgm:spPr/>
      <dgm:t>
        <a:bodyPr/>
        <a:lstStyle/>
        <a:p>
          <a:endParaRPr lang="en-US"/>
        </a:p>
      </dgm:t>
    </dgm:pt>
    <dgm:pt modelId="{2C42290E-20F4-4F8F-8331-8053D18C390E}" type="sibTrans" cxnId="{6F17A4F2-1B8E-4F99-AAC5-FA9D15AAA09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2E168C0-C7A8-4C91-B934-58435C2B05E6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The objective was to transform raw business data into actionable insights using Python and Power BI.</a:t>
          </a:r>
          <a:endParaRPr lang="en-US"/>
        </a:p>
      </dgm:t>
    </dgm:pt>
    <dgm:pt modelId="{833DA058-D566-4BED-96AF-F292952FDB79}" type="parTrans" cxnId="{88F9D55D-AC1A-4584-AB4B-C20400A97639}">
      <dgm:prSet/>
      <dgm:spPr/>
      <dgm:t>
        <a:bodyPr/>
        <a:lstStyle/>
        <a:p>
          <a:endParaRPr lang="en-US"/>
        </a:p>
      </dgm:t>
    </dgm:pt>
    <dgm:pt modelId="{D3EC059C-6C88-4F38-8B61-72F397B070FA}" type="sibTrans" cxnId="{88F9D55D-AC1A-4584-AB4B-C20400A97639}">
      <dgm:prSet/>
      <dgm:spPr/>
      <dgm:t>
        <a:bodyPr/>
        <a:lstStyle/>
        <a:p>
          <a:endParaRPr lang="en-US"/>
        </a:p>
      </dgm:t>
    </dgm:pt>
    <dgm:pt modelId="{967F6760-10E0-4775-9BC7-D860918C52E5}" type="pres">
      <dgm:prSet presAssocID="{428ED21C-1579-42A3-B05D-1A06676A9E4B}" presName="root" presStyleCnt="0">
        <dgm:presLayoutVars>
          <dgm:dir/>
          <dgm:resizeHandles val="exact"/>
        </dgm:presLayoutVars>
      </dgm:prSet>
      <dgm:spPr/>
    </dgm:pt>
    <dgm:pt modelId="{AA2CD13E-3B27-41A4-A982-7914BD5B1303}" type="pres">
      <dgm:prSet presAssocID="{428ED21C-1579-42A3-B05D-1A06676A9E4B}" presName="container" presStyleCnt="0">
        <dgm:presLayoutVars>
          <dgm:dir/>
          <dgm:resizeHandles val="exact"/>
        </dgm:presLayoutVars>
      </dgm:prSet>
      <dgm:spPr/>
    </dgm:pt>
    <dgm:pt modelId="{B9D6B19A-7F70-421E-BD37-A44D59CF95F6}" type="pres">
      <dgm:prSet presAssocID="{F71A5EA2-8323-4908-8CF2-6F300599D41B}" presName="compNode" presStyleCnt="0"/>
      <dgm:spPr/>
    </dgm:pt>
    <dgm:pt modelId="{564818AF-1A8E-4295-B18E-31CCF58B675A}" type="pres">
      <dgm:prSet presAssocID="{F71A5EA2-8323-4908-8CF2-6F300599D41B}" presName="iconBgRect" presStyleLbl="bgShp" presStyleIdx="0" presStyleCnt="4"/>
      <dgm:spPr/>
    </dgm:pt>
    <dgm:pt modelId="{D550190A-3D18-473D-81BD-2EF41EF65C09}" type="pres">
      <dgm:prSet presAssocID="{F71A5EA2-8323-4908-8CF2-6F300599D41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027E350-861A-4A16-AC2E-5E55889D54D0}" type="pres">
      <dgm:prSet presAssocID="{F71A5EA2-8323-4908-8CF2-6F300599D41B}" presName="spaceRect" presStyleCnt="0"/>
      <dgm:spPr/>
    </dgm:pt>
    <dgm:pt modelId="{B767E435-9064-41EC-80D5-21DFB4B33348}" type="pres">
      <dgm:prSet presAssocID="{F71A5EA2-8323-4908-8CF2-6F300599D41B}" presName="textRect" presStyleLbl="revTx" presStyleIdx="0" presStyleCnt="4">
        <dgm:presLayoutVars>
          <dgm:chMax val="1"/>
          <dgm:chPref val="1"/>
        </dgm:presLayoutVars>
      </dgm:prSet>
      <dgm:spPr/>
    </dgm:pt>
    <dgm:pt modelId="{D36E2181-69FF-413E-9E6C-5B07EE520C65}" type="pres">
      <dgm:prSet presAssocID="{DBBA32F5-85CD-4C6C-AC28-32AC6DDB7397}" presName="sibTrans" presStyleLbl="sibTrans2D1" presStyleIdx="0" presStyleCnt="0"/>
      <dgm:spPr/>
    </dgm:pt>
    <dgm:pt modelId="{8824938F-5FE7-4758-8C27-4B9333FFB859}" type="pres">
      <dgm:prSet presAssocID="{9AB4BA85-0F83-4DB2-BDEC-0DEAA746F25B}" presName="compNode" presStyleCnt="0"/>
      <dgm:spPr/>
    </dgm:pt>
    <dgm:pt modelId="{3D6643BF-3D55-4A94-993A-6A4A44F4942C}" type="pres">
      <dgm:prSet presAssocID="{9AB4BA85-0F83-4DB2-BDEC-0DEAA746F25B}" presName="iconBgRect" presStyleLbl="bgShp" presStyleIdx="1" presStyleCnt="4"/>
      <dgm:spPr/>
    </dgm:pt>
    <dgm:pt modelId="{63D2B1AD-EB64-4A81-8E74-3C22C9FE2401}" type="pres">
      <dgm:prSet presAssocID="{9AB4BA85-0F83-4DB2-BDEC-0DEAA746F25B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3641C34B-261A-42FC-B695-0DE33E4F31C9}" type="pres">
      <dgm:prSet presAssocID="{9AB4BA85-0F83-4DB2-BDEC-0DEAA746F25B}" presName="spaceRect" presStyleCnt="0"/>
      <dgm:spPr/>
    </dgm:pt>
    <dgm:pt modelId="{AD72FB4B-19DE-40FD-8184-14ADF7E5A7D0}" type="pres">
      <dgm:prSet presAssocID="{9AB4BA85-0F83-4DB2-BDEC-0DEAA746F25B}" presName="textRect" presStyleLbl="revTx" presStyleIdx="1" presStyleCnt="4">
        <dgm:presLayoutVars>
          <dgm:chMax val="1"/>
          <dgm:chPref val="1"/>
        </dgm:presLayoutVars>
      </dgm:prSet>
      <dgm:spPr/>
    </dgm:pt>
    <dgm:pt modelId="{D2FE7BBB-4DDC-4528-8A88-4009C77C32B5}" type="pres">
      <dgm:prSet presAssocID="{3A284F9E-3C86-4C38-8D2D-8226232650C0}" presName="sibTrans" presStyleLbl="sibTrans2D1" presStyleIdx="0" presStyleCnt="0"/>
      <dgm:spPr/>
    </dgm:pt>
    <dgm:pt modelId="{13B698E3-80BD-40D1-B4AD-D2EE649F3800}" type="pres">
      <dgm:prSet presAssocID="{0145354C-DA9F-401A-9545-4C0F7932315F}" presName="compNode" presStyleCnt="0"/>
      <dgm:spPr/>
    </dgm:pt>
    <dgm:pt modelId="{070A2DBF-D35F-4485-BA26-F513088F9F4A}" type="pres">
      <dgm:prSet presAssocID="{0145354C-DA9F-401A-9545-4C0F7932315F}" presName="iconBgRect" presStyleLbl="bgShp" presStyleIdx="2" presStyleCnt="4"/>
      <dgm:spPr/>
    </dgm:pt>
    <dgm:pt modelId="{FFD2E92F-2CFA-43AA-A96C-28568FB88565}" type="pres">
      <dgm:prSet presAssocID="{0145354C-DA9F-401A-9545-4C0F7932315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65B11F6F-725A-48D6-BEFA-287D8BBCB90B}" type="pres">
      <dgm:prSet presAssocID="{0145354C-DA9F-401A-9545-4C0F7932315F}" presName="spaceRect" presStyleCnt="0"/>
      <dgm:spPr/>
    </dgm:pt>
    <dgm:pt modelId="{490A3F4E-F4F6-42D9-B574-64273B8D9B7F}" type="pres">
      <dgm:prSet presAssocID="{0145354C-DA9F-401A-9545-4C0F7932315F}" presName="textRect" presStyleLbl="revTx" presStyleIdx="2" presStyleCnt="4">
        <dgm:presLayoutVars>
          <dgm:chMax val="1"/>
          <dgm:chPref val="1"/>
        </dgm:presLayoutVars>
      </dgm:prSet>
      <dgm:spPr/>
    </dgm:pt>
    <dgm:pt modelId="{682C973C-798B-489C-B886-E742889B8535}" type="pres">
      <dgm:prSet presAssocID="{2C42290E-20F4-4F8F-8331-8053D18C390E}" presName="sibTrans" presStyleLbl="sibTrans2D1" presStyleIdx="0" presStyleCnt="0"/>
      <dgm:spPr/>
    </dgm:pt>
    <dgm:pt modelId="{AD478829-C48B-4B8C-8999-F17B5E49016C}" type="pres">
      <dgm:prSet presAssocID="{22E168C0-C7A8-4C91-B934-58435C2B05E6}" presName="compNode" presStyleCnt="0"/>
      <dgm:spPr/>
    </dgm:pt>
    <dgm:pt modelId="{183B05EB-344A-4348-A77E-0BF639A91501}" type="pres">
      <dgm:prSet presAssocID="{22E168C0-C7A8-4C91-B934-58435C2B05E6}" presName="iconBgRect" presStyleLbl="bgShp" presStyleIdx="3" presStyleCnt="4"/>
      <dgm:spPr/>
    </dgm:pt>
    <dgm:pt modelId="{A2648408-CFDE-4D71-A3F6-4A1E5E6BCBFC}" type="pres">
      <dgm:prSet presAssocID="{22E168C0-C7A8-4C91-B934-58435C2B05E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CACDF0B-5601-48C8-B828-F5A38051C647}" type="pres">
      <dgm:prSet presAssocID="{22E168C0-C7A8-4C91-B934-58435C2B05E6}" presName="spaceRect" presStyleCnt="0"/>
      <dgm:spPr/>
    </dgm:pt>
    <dgm:pt modelId="{7ABFFE86-52DC-4322-A6AC-751840395AE0}" type="pres">
      <dgm:prSet presAssocID="{22E168C0-C7A8-4C91-B934-58435C2B05E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AB0C224-DABC-4A55-8ECF-22E81E4D5ACA}" srcId="{428ED21C-1579-42A3-B05D-1A06676A9E4B}" destId="{F71A5EA2-8323-4908-8CF2-6F300599D41B}" srcOrd="0" destOrd="0" parTransId="{CFC6B198-C018-4995-9507-8338C33AD5A8}" sibTransId="{DBBA32F5-85CD-4C6C-AC28-32AC6DDB7397}"/>
    <dgm:cxn modelId="{7FC93034-0499-4DD9-96B6-78BADCE4683A}" type="presOf" srcId="{22E168C0-C7A8-4C91-B934-58435C2B05E6}" destId="{7ABFFE86-52DC-4322-A6AC-751840395AE0}" srcOrd="0" destOrd="0" presId="urn:microsoft.com/office/officeart/2018/2/layout/IconCircleList"/>
    <dgm:cxn modelId="{FE69233F-E10E-46FD-8486-B3008B29C27E}" type="presOf" srcId="{2C42290E-20F4-4F8F-8331-8053D18C390E}" destId="{682C973C-798B-489C-B886-E742889B8535}" srcOrd="0" destOrd="0" presId="urn:microsoft.com/office/officeart/2018/2/layout/IconCircleList"/>
    <dgm:cxn modelId="{88F9D55D-AC1A-4584-AB4B-C20400A97639}" srcId="{428ED21C-1579-42A3-B05D-1A06676A9E4B}" destId="{22E168C0-C7A8-4C91-B934-58435C2B05E6}" srcOrd="3" destOrd="0" parTransId="{833DA058-D566-4BED-96AF-F292952FDB79}" sibTransId="{D3EC059C-6C88-4F38-8B61-72F397B070FA}"/>
    <dgm:cxn modelId="{9586DE57-F21C-4691-80F0-7870D927AFCC}" type="presOf" srcId="{428ED21C-1579-42A3-B05D-1A06676A9E4B}" destId="{967F6760-10E0-4775-9BC7-D860918C52E5}" srcOrd="0" destOrd="0" presId="urn:microsoft.com/office/officeart/2018/2/layout/IconCircleList"/>
    <dgm:cxn modelId="{442E6A9A-C7A0-4AAF-AFCF-24FCFFC1F7AD}" type="presOf" srcId="{0145354C-DA9F-401A-9545-4C0F7932315F}" destId="{490A3F4E-F4F6-42D9-B574-64273B8D9B7F}" srcOrd="0" destOrd="0" presId="urn:microsoft.com/office/officeart/2018/2/layout/IconCircleList"/>
    <dgm:cxn modelId="{161502A6-A878-4608-8D35-13F8ABF78E5F}" type="presOf" srcId="{9AB4BA85-0F83-4DB2-BDEC-0DEAA746F25B}" destId="{AD72FB4B-19DE-40FD-8184-14ADF7E5A7D0}" srcOrd="0" destOrd="0" presId="urn:microsoft.com/office/officeart/2018/2/layout/IconCircleList"/>
    <dgm:cxn modelId="{EF0072AB-E988-40F6-B5EA-D6B737A3CA9F}" srcId="{428ED21C-1579-42A3-B05D-1A06676A9E4B}" destId="{9AB4BA85-0F83-4DB2-BDEC-0DEAA746F25B}" srcOrd="1" destOrd="0" parTransId="{1F29DBD1-3DF0-4691-8E5D-F9B10B0DD609}" sibTransId="{3A284F9E-3C86-4C38-8D2D-8226232650C0}"/>
    <dgm:cxn modelId="{8BC31ACB-C398-45E2-A900-265413B4C492}" type="presOf" srcId="{3A284F9E-3C86-4C38-8D2D-8226232650C0}" destId="{D2FE7BBB-4DDC-4528-8A88-4009C77C32B5}" srcOrd="0" destOrd="0" presId="urn:microsoft.com/office/officeart/2018/2/layout/IconCircleList"/>
    <dgm:cxn modelId="{D89B43D8-0492-44EB-9C68-D97AA70FA2DE}" type="presOf" srcId="{F71A5EA2-8323-4908-8CF2-6F300599D41B}" destId="{B767E435-9064-41EC-80D5-21DFB4B33348}" srcOrd="0" destOrd="0" presId="urn:microsoft.com/office/officeart/2018/2/layout/IconCircleList"/>
    <dgm:cxn modelId="{4F0452E0-8D82-4883-9CD3-74C0D255A7D1}" type="presOf" srcId="{DBBA32F5-85CD-4C6C-AC28-32AC6DDB7397}" destId="{D36E2181-69FF-413E-9E6C-5B07EE520C65}" srcOrd="0" destOrd="0" presId="urn:microsoft.com/office/officeart/2018/2/layout/IconCircleList"/>
    <dgm:cxn modelId="{6F17A4F2-1B8E-4F99-AAC5-FA9D15AAA090}" srcId="{428ED21C-1579-42A3-B05D-1A06676A9E4B}" destId="{0145354C-DA9F-401A-9545-4C0F7932315F}" srcOrd="2" destOrd="0" parTransId="{BE934985-D609-4412-9E88-E26DEAC08EF7}" sibTransId="{2C42290E-20F4-4F8F-8331-8053D18C390E}"/>
    <dgm:cxn modelId="{B6CBE9E4-813D-4A29-9488-A056523D8217}" type="presParOf" srcId="{967F6760-10E0-4775-9BC7-D860918C52E5}" destId="{AA2CD13E-3B27-41A4-A982-7914BD5B1303}" srcOrd="0" destOrd="0" presId="urn:microsoft.com/office/officeart/2018/2/layout/IconCircleList"/>
    <dgm:cxn modelId="{0E2D1D14-D1A8-4AE0-9506-E79EFD666CDF}" type="presParOf" srcId="{AA2CD13E-3B27-41A4-A982-7914BD5B1303}" destId="{B9D6B19A-7F70-421E-BD37-A44D59CF95F6}" srcOrd="0" destOrd="0" presId="urn:microsoft.com/office/officeart/2018/2/layout/IconCircleList"/>
    <dgm:cxn modelId="{2CECCFDE-08B5-4753-B40A-5E902A0852C0}" type="presParOf" srcId="{B9D6B19A-7F70-421E-BD37-A44D59CF95F6}" destId="{564818AF-1A8E-4295-B18E-31CCF58B675A}" srcOrd="0" destOrd="0" presId="urn:microsoft.com/office/officeart/2018/2/layout/IconCircleList"/>
    <dgm:cxn modelId="{668619FC-D1BE-43C0-B697-A6CA3D1B3259}" type="presParOf" srcId="{B9D6B19A-7F70-421E-BD37-A44D59CF95F6}" destId="{D550190A-3D18-473D-81BD-2EF41EF65C09}" srcOrd="1" destOrd="0" presId="urn:microsoft.com/office/officeart/2018/2/layout/IconCircleList"/>
    <dgm:cxn modelId="{01044DD7-3072-42D5-92E7-940AA46B286E}" type="presParOf" srcId="{B9D6B19A-7F70-421E-BD37-A44D59CF95F6}" destId="{E027E350-861A-4A16-AC2E-5E55889D54D0}" srcOrd="2" destOrd="0" presId="urn:microsoft.com/office/officeart/2018/2/layout/IconCircleList"/>
    <dgm:cxn modelId="{08C405E9-8D71-44D0-965A-41CFE425FAA2}" type="presParOf" srcId="{B9D6B19A-7F70-421E-BD37-A44D59CF95F6}" destId="{B767E435-9064-41EC-80D5-21DFB4B33348}" srcOrd="3" destOrd="0" presId="urn:microsoft.com/office/officeart/2018/2/layout/IconCircleList"/>
    <dgm:cxn modelId="{C0568939-744E-46AE-BB0C-9631387B8C07}" type="presParOf" srcId="{AA2CD13E-3B27-41A4-A982-7914BD5B1303}" destId="{D36E2181-69FF-413E-9E6C-5B07EE520C65}" srcOrd="1" destOrd="0" presId="urn:microsoft.com/office/officeart/2018/2/layout/IconCircleList"/>
    <dgm:cxn modelId="{03821F08-C980-4F65-B0EE-F8D4E871F190}" type="presParOf" srcId="{AA2CD13E-3B27-41A4-A982-7914BD5B1303}" destId="{8824938F-5FE7-4758-8C27-4B9333FFB859}" srcOrd="2" destOrd="0" presId="urn:microsoft.com/office/officeart/2018/2/layout/IconCircleList"/>
    <dgm:cxn modelId="{092E9B2A-81F4-45B9-BFB1-0C49CF4C8796}" type="presParOf" srcId="{8824938F-5FE7-4758-8C27-4B9333FFB859}" destId="{3D6643BF-3D55-4A94-993A-6A4A44F4942C}" srcOrd="0" destOrd="0" presId="urn:microsoft.com/office/officeart/2018/2/layout/IconCircleList"/>
    <dgm:cxn modelId="{974895DC-BCDE-4B09-ADDE-B809B09A146B}" type="presParOf" srcId="{8824938F-5FE7-4758-8C27-4B9333FFB859}" destId="{63D2B1AD-EB64-4A81-8E74-3C22C9FE2401}" srcOrd="1" destOrd="0" presId="urn:microsoft.com/office/officeart/2018/2/layout/IconCircleList"/>
    <dgm:cxn modelId="{FF52E507-8A60-4FCB-865D-89FD938140AE}" type="presParOf" srcId="{8824938F-5FE7-4758-8C27-4B9333FFB859}" destId="{3641C34B-261A-42FC-B695-0DE33E4F31C9}" srcOrd="2" destOrd="0" presId="urn:microsoft.com/office/officeart/2018/2/layout/IconCircleList"/>
    <dgm:cxn modelId="{83AF7EBB-83AF-4DB8-A9D1-FF313D09D528}" type="presParOf" srcId="{8824938F-5FE7-4758-8C27-4B9333FFB859}" destId="{AD72FB4B-19DE-40FD-8184-14ADF7E5A7D0}" srcOrd="3" destOrd="0" presId="urn:microsoft.com/office/officeart/2018/2/layout/IconCircleList"/>
    <dgm:cxn modelId="{2FE63DA5-8249-4DF1-A492-8F916E44F451}" type="presParOf" srcId="{AA2CD13E-3B27-41A4-A982-7914BD5B1303}" destId="{D2FE7BBB-4DDC-4528-8A88-4009C77C32B5}" srcOrd="3" destOrd="0" presId="urn:microsoft.com/office/officeart/2018/2/layout/IconCircleList"/>
    <dgm:cxn modelId="{FB50BCAB-9BC9-4F6E-A62B-B55A01856C81}" type="presParOf" srcId="{AA2CD13E-3B27-41A4-A982-7914BD5B1303}" destId="{13B698E3-80BD-40D1-B4AD-D2EE649F3800}" srcOrd="4" destOrd="0" presId="urn:microsoft.com/office/officeart/2018/2/layout/IconCircleList"/>
    <dgm:cxn modelId="{B06A4056-71BC-4A01-A964-8850223A724B}" type="presParOf" srcId="{13B698E3-80BD-40D1-B4AD-D2EE649F3800}" destId="{070A2DBF-D35F-4485-BA26-F513088F9F4A}" srcOrd="0" destOrd="0" presId="urn:microsoft.com/office/officeart/2018/2/layout/IconCircleList"/>
    <dgm:cxn modelId="{A438C894-EBBA-41B8-B866-0FC0A0E1458E}" type="presParOf" srcId="{13B698E3-80BD-40D1-B4AD-D2EE649F3800}" destId="{FFD2E92F-2CFA-43AA-A96C-28568FB88565}" srcOrd="1" destOrd="0" presId="urn:microsoft.com/office/officeart/2018/2/layout/IconCircleList"/>
    <dgm:cxn modelId="{6AB139F5-60B8-43F6-8025-93F66865ABEA}" type="presParOf" srcId="{13B698E3-80BD-40D1-B4AD-D2EE649F3800}" destId="{65B11F6F-725A-48D6-BEFA-287D8BBCB90B}" srcOrd="2" destOrd="0" presId="urn:microsoft.com/office/officeart/2018/2/layout/IconCircleList"/>
    <dgm:cxn modelId="{CE7FC21D-7B6A-41F8-B23B-557BC2DF8A6F}" type="presParOf" srcId="{13B698E3-80BD-40D1-B4AD-D2EE649F3800}" destId="{490A3F4E-F4F6-42D9-B574-64273B8D9B7F}" srcOrd="3" destOrd="0" presId="urn:microsoft.com/office/officeart/2018/2/layout/IconCircleList"/>
    <dgm:cxn modelId="{D97080A8-6B30-4651-AA4A-0F4D294C809E}" type="presParOf" srcId="{AA2CD13E-3B27-41A4-A982-7914BD5B1303}" destId="{682C973C-798B-489C-B886-E742889B8535}" srcOrd="5" destOrd="0" presId="urn:microsoft.com/office/officeart/2018/2/layout/IconCircleList"/>
    <dgm:cxn modelId="{965660E1-8AEB-4899-A47B-CD1636CDD3BD}" type="presParOf" srcId="{AA2CD13E-3B27-41A4-A982-7914BD5B1303}" destId="{AD478829-C48B-4B8C-8999-F17B5E49016C}" srcOrd="6" destOrd="0" presId="urn:microsoft.com/office/officeart/2018/2/layout/IconCircleList"/>
    <dgm:cxn modelId="{A9485E2A-B6CB-4130-9911-9A50B68E1553}" type="presParOf" srcId="{AD478829-C48B-4B8C-8999-F17B5E49016C}" destId="{183B05EB-344A-4348-A77E-0BF639A91501}" srcOrd="0" destOrd="0" presId="urn:microsoft.com/office/officeart/2018/2/layout/IconCircleList"/>
    <dgm:cxn modelId="{A7459071-6E43-4410-A56A-8B2EE3828E0C}" type="presParOf" srcId="{AD478829-C48B-4B8C-8999-F17B5E49016C}" destId="{A2648408-CFDE-4D71-A3F6-4A1E5E6BCBFC}" srcOrd="1" destOrd="0" presId="urn:microsoft.com/office/officeart/2018/2/layout/IconCircleList"/>
    <dgm:cxn modelId="{A70E35BB-3296-4088-8D23-945AEF313FAF}" type="presParOf" srcId="{AD478829-C48B-4B8C-8999-F17B5E49016C}" destId="{1CACDF0B-5601-48C8-B828-F5A38051C647}" srcOrd="2" destOrd="0" presId="urn:microsoft.com/office/officeart/2018/2/layout/IconCircleList"/>
    <dgm:cxn modelId="{F6B6F424-381E-4918-A2A2-C005354337F2}" type="presParOf" srcId="{AD478829-C48B-4B8C-8999-F17B5E49016C}" destId="{7ABFFE86-52DC-4322-A6AC-751840395AE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4818AF-1A8E-4295-B18E-31CCF58B675A}">
      <dsp:nvSpPr>
        <dsp:cNvPr id="0" name=""/>
        <dsp:cNvSpPr/>
      </dsp:nvSpPr>
      <dsp:spPr>
        <a:xfrm>
          <a:off x="51466" y="1090889"/>
          <a:ext cx="687026" cy="68702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50190A-3D18-473D-81BD-2EF41EF65C09}">
      <dsp:nvSpPr>
        <dsp:cNvPr id="0" name=""/>
        <dsp:cNvSpPr/>
      </dsp:nvSpPr>
      <dsp:spPr>
        <a:xfrm>
          <a:off x="195741" y="1235164"/>
          <a:ext cx="398475" cy="3984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67E435-9064-41EC-80D5-21DFB4B33348}">
      <dsp:nvSpPr>
        <dsp:cNvPr id="0" name=""/>
        <dsp:cNvSpPr/>
      </dsp:nvSpPr>
      <dsp:spPr>
        <a:xfrm>
          <a:off x="885712" y="1090889"/>
          <a:ext cx="1619419" cy="687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Businesses generate large amounts of sales data. </a:t>
          </a:r>
          <a:endParaRPr lang="en-US" sz="1100" kern="1200"/>
        </a:p>
      </dsp:txBody>
      <dsp:txXfrm>
        <a:off x="885712" y="1090889"/>
        <a:ext cx="1619419" cy="687026"/>
      </dsp:txXfrm>
    </dsp:sp>
    <dsp:sp modelId="{3D6643BF-3D55-4A94-993A-6A4A44F4942C}">
      <dsp:nvSpPr>
        <dsp:cNvPr id="0" name=""/>
        <dsp:cNvSpPr/>
      </dsp:nvSpPr>
      <dsp:spPr>
        <a:xfrm>
          <a:off x="2787303" y="1090889"/>
          <a:ext cx="687026" cy="68702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D2B1AD-EB64-4A81-8E74-3C22C9FE2401}">
      <dsp:nvSpPr>
        <dsp:cNvPr id="0" name=""/>
        <dsp:cNvSpPr/>
      </dsp:nvSpPr>
      <dsp:spPr>
        <a:xfrm>
          <a:off x="2931579" y="1235164"/>
          <a:ext cx="398475" cy="3984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72FB4B-19DE-40FD-8184-14ADF7E5A7D0}">
      <dsp:nvSpPr>
        <dsp:cNvPr id="0" name=""/>
        <dsp:cNvSpPr/>
      </dsp:nvSpPr>
      <dsp:spPr>
        <a:xfrm>
          <a:off x="3621550" y="1090889"/>
          <a:ext cx="1619419" cy="687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But raw data alone cannot support decision-making. </a:t>
          </a:r>
          <a:endParaRPr lang="en-US" sz="1100" kern="1200"/>
        </a:p>
      </dsp:txBody>
      <dsp:txXfrm>
        <a:off x="3621550" y="1090889"/>
        <a:ext cx="1619419" cy="687026"/>
      </dsp:txXfrm>
    </dsp:sp>
    <dsp:sp modelId="{070A2DBF-D35F-4485-BA26-F513088F9F4A}">
      <dsp:nvSpPr>
        <dsp:cNvPr id="0" name=""/>
        <dsp:cNvSpPr/>
      </dsp:nvSpPr>
      <dsp:spPr>
        <a:xfrm>
          <a:off x="51466" y="2506218"/>
          <a:ext cx="687026" cy="68702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D2E92F-2CFA-43AA-A96C-28568FB88565}">
      <dsp:nvSpPr>
        <dsp:cNvPr id="0" name=""/>
        <dsp:cNvSpPr/>
      </dsp:nvSpPr>
      <dsp:spPr>
        <a:xfrm>
          <a:off x="195741" y="2650493"/>
          <a:ext cx="398475" cy="3984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0A3F4E-F4F6-42D9-B574-64273B8D9B7F}">
      <dsp:nvSpPr>
        <dsp:cNvPr id="0" name=""/>
        <dsp:cNvSpPr/>
      </dsp:nvSpPr>
      <dsp:spPr>
        <a:xfrm>
          <a:off x="885712" y="2506218"/>
          <a:ext cx="1619419" cy="687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This project analyzes sales trends, customer segments, product performance, and profit behavior to generate actionable insights.</a:t>
          </a:r>
          <a:endParaRPr lang="en-US" sz="1100" kern="1200"/>
        </a:p>
      </dsp:txBody>
      <dsp:txXfrm>
        <a:off x="885712" y="2506218"/>
        <a:ext cx="1619419" cy="687026"/>
      </dsp:txXfrm>
    </dsp:sp>
    <dsp:sp modelId="{183B05EB-344A-4348-A77E-0BF639A91501}">
      <dsp:nvSpPr>
        <dsp:cNvPr id="0" name=""/>
        <dsp:cNvSpPr/>
      </dsp:nvSpPr>
      <dsp:spPr>
        <a:xfrm>
          <a:off x="2787303" y="2506218"/>
          <a:ext cx="687026" cy="68702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648408-CFDE-4D71-A3F6-4A1E5E6BCBFC}">
      <dsp:nvSpPr>
        <dsp:cNvPr id="0" name=""/>
        <dsp:cNvSpPr/>
      </dsp:nvSpPr>
      <dsp:spPr>
        <a:xfrm>
          <a:off x="2931579" y="2650493"/>
          <a:ext cx="398475" cy="3984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BFFE86-52DC-4322-A6AC-751840395AE0}">
      <dsp:nvSpPr>
        <dsp:cNvPr id="0" name=""/>
        <dsp:cNvSpPr/>
      </dsp:nvSpPr>
      <dsp:spPr>
        <a:xfrm>
          <a:off x="3621550" y="2506218"/>
          <a:ext cx="1619419" cy="687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The objective was to transform raw business data into actionable insights using Python and Power BI.</a:t>
          </a:r>
          <a:endParaRPr lang="en-US" sz="1100" kern="1200"/>
        </a:p>
      </dsp:txBody>
      <dsp:txXfrm>
        <a:off x="3621550" y="2506218"/>
        <a:ext cx="1619419" cy="6870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1A0EF-2C06-4232-B89E-17BC3341E4A2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3D5E661-8643-4A0A-B47C-E2ECC2F6B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025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1A0EF-2C06-4232-B89E-17BC3341E4A2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E661-8643-4A0A-B47C-E2ECC2F6B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984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1A0EF-2C06-4232-B89E-17BC3341E4A2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3D5E661-8643-4A0A-B47C-E2ECC2F6B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164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1A0EF-2C06-4232-B89E-17BC3341E4A2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3D5E661-8643-4A0A-B47C-E2ECC2F6B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4312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1A0EF-2C06-4232-B89E-17BC3341E4A2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3D5E661-8643-4A0A-B47C-E2ECC2F6B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323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1A0EF-2C06-4232-B89E-17BC3341E4A2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E661-8643-4A0A-B47C-E2ECC2F6B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100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1A0EF-2C06-4232-B89E-17BC3341E4A2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E661-8643-4A0A-B47C-E2ECC2F6B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843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1A0EF-2C06-4232-B89E-17BC3341E4A2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E661-8643-4A0A-B47C-E2ECC2F6B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002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1A0EF-2C06-4232-B89E-17BC3341E4A2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3D5E661-8643-4A0A-B47C-E2ECC2F6B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5067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1A0EF-2C06-4232-B89E-17BC3341E4A2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3D5E661-8643-4A0A-B47C-E2ECC2F6B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676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1A0EF-2C06-4232-B89E-17BC3341E4A2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3D5E661-8643-4A0A-B47C-E2ECC2F6B522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9144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1A0EF-2C06-4232-B89E-17BC3341E4A2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3D5E661-8643-4A0A-B47C-E2ECC2F6B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4153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1A0EF-2C06-4232-B89E-17BC3341E4A2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3D5E661-8643-4A0A-B47C-E2ECC2F6B522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30452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1A0EF-2C06-4232-B89E-17BC3341E4A2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3D5E661-8643-4A0A-B47C-E2ECC2F6B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187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1A0EF-2C06-4232-B89E-17BC3341E4A2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E661-8643-4A0A-B47C-E2ECC2F6B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577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1A0EF-2C06-4232-B89E-17BC3341E4A2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5E661-8643-4A0A-B47C-E2ECC2F6B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463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A1A0EF-2C06-4232-B89E-17BC3341E4A2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3D5E661-8643-4A0A-B47C-E2ECC2F6B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382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A94DED7-0A28-4AD9-8747-E94113225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F175609-91A3-416E-BC3D-7548FDE02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3B0D54-9DF0-4FF8-A0AA-B4234DF35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4639734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CAD4C9-9458-38EE-658A-262F7901F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279" y="1795849"/>
            <a:ext cx="3778870" cy="3114818"/>
          </a:xfrm>
        </p:spPr>
        <p:txBody>
          <a:bodyPr>
            <a:normAutofit/>
          </a:bodyPr>
          <a:lstStyle/>
          <a:p>
            <a:r>
              <a:rPr lang="en-IN" sz="4000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Analysis &amp; Business Insights</a:t>
            </a:r>
            <a:br>
              <a:rPr lang="en-IN" sz="4000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4000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</a:t>
            </a:r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D38D2E3F-9E03-23BE-3B02-AF0305980F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96" t="9091" r="20134" b="-1"/>
          <a:stretch>
            <a:fillRect/>
          </a:stretch>
        </p:blipFill>
        <p:spPr>
          <a:xfrm>
            <a:off x="4639732" y="10"/>
            <a:ext cx="7552267" cy="685799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64D236DE-BD07-488F-B236-DDEEFFF72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5033007"/>
            <a:ext cx="5404022" cy="857047"/>
          </a:xfrm>
          <a:custGeom>
            <a:avLst/>
            <a:gdLst>
              <a:gd name="T0" fmla="*/ 1114 w 1117"/>
              <a:gd name="T1" fmla="*/ 77 h 163"/>
              <a:gd name="T2" fmla="*/ 1040 w 1117"/>
              <a:gd name="T3" fmla="*/ 3 h 163"/>
              <a:gd name="T4" fmla="*/ 1039 w 1117"/>
              <a:gd name="T5" fmla="*/ 2 h 163"/>
              <a:gd name="T6" fmla="*/ 1034 w 1117"/>
              <a:gd name="T7" fmla="*/ 0 h 163"/>
              <a:gd name="T8" fmla="*/ 578 w 1117"/>
              <a:gd name="T9" fmla="*/ 0 h 163"/>
              <a:gd name="T10" fmla="*/ 562 w 1117"/>
              <a:gd name="T11" fmla="*/ 0 h 163"/>
              <a:gd name="T12" fmla="*/ 440 w 1117"/>
              <a:gd name="T13" fmla="*/ 0 h 163"/>
              <a:gd name="T14" fmla="*/ 106 w 1117"/>
              <a:gd name="T15" fmla="*/ 0 h 163"/>
              <a:gd name="T16" fmla="*/ 0 w 1117"/>
              <a:gd name="T17" fmla="*/ 0 h 163"/>
              <a:gd name="T18" fmla="*/ 0 w 1117"/>
              <a:gd name="T19" fmla="*/ 163 h 163"/>
              <a:gd name="T20" fmla="*/ 106 w 1117"/>
              <a:gd name="T21" fmla="*/ 163 h 163"/>
              <a:gd name="T22" fmla="*/ 440 w 1117"/>
              <a:gd name="T23" fmla="*/ 163 h 163"/>
              <a:gd name="T24" fmla="*/ 562 w 1117"/>
              <a:gd name="T25" fmla="*/ 163 h 163"/>
              <a:gd name="T26" fmla="*/ 578 w 1117"/>
              <a:gd name="T27" fmla="*/ 163 h 163"/>
              <a:gd name="T28" fmla="*/ 1034 w 1117"/>
              <a:gd name="T29" fmla="*/ 163 h 163"/>
              <a:gd name="T30" fmla="*/ 1039 w 1117"/>
              <a:gd name="T31" fmla="*/ 161 h 163"/>
              <a:gd name="T32" fmla="*/ 1040 w 1117"/>
              <a:gd name="T33" fmla="*/ 160 h 163"/>
              <a:gd name="T34" fmla="*/ 1114 w 1117"/>
              <a:gd name="T35" fmla="*/ 86 h 163"/>
              <a:gd name="T36" fmla="*/ 1114 w 1117"/>
              <a:gd name="T37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17" h="163">
                <a:moveTo>
                  <a:pt x="1114" y="77"/>
                </a:moveTo>
                <a:cubicBezTo>
                  <a:pt x="1040" y="3"/>
                  <a:pt x="1040" y="3"/>
                  <a:pt x="1040" y="3"/>
                </a:cubicBezTo>
                <a:cubicBezTo>
                  <a:pt x="1040" y="2"/>
                  <a:pt x="1039" y="2"/>
                  <a:pt x="1039" y="2"/>
                </a:cubicBezTo>
                <a:cubicBezTo>
                  <a:pt x="1038" y="1"/>
                  <a:pt x="1036" y="0"/>
                  <a:pt x="1034" y="0"/>
                </a:cubicBezTo>
                <a:cubicBezTo>
                  <a:pt x="578" y="0"/>
                  <a:pt x="578" y="0"/>
                  <a:pt x="578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40" y="0"/>
                  <a:pt x="440" y="0"/>
                  <a:pt x="440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40" y="163"/>
                  <a:pt x="440" y="163"/>
                  <a:pt x="440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8" y="163"/>
                  <a:pt x="578" y="163"/>
                  <a:pt x="578" y="163"/>
                </a:cubicBezTo>
                <a:cubicBezTo>
                  <a:pt x="1034" y="163"/>
                  <a:pt x="1034" y="163"/>
                  <a:pt x="1034" y="163"/>
                </a:cubicBezTo>
                <a:cubicBezTo>
                  <a:pt x="1036" y="163"/>
                  <a:pt x="1038" y="162"/>
                  <a:pt x="1039" y="161"/>
                </a:cubicBezTo>
                <a:cubicBezTo>
                  <a:pt x="1039" y="160"/>
                  <a:pt x="1040" y="160"/>
                  <a:pt x="1040" y="160"/>
                </a:cubicBezTo>
                <a:cubicBezTo>
                  <a:pt x="1114" y="86"/>
                  <a:pt x="1114" y="86"/>
                  <a:pt x="1114" y="86"/>
                </a:cubicBezTo>
                <a:cubicBezTo>
                  <a:pt x="1117" y="83"/>
                  <a:pt x="1117" y="79"/>
                  <a:pt x="1114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955AE2-F58B-D896-E429-6B17D0C96D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279" y="5189400"/>
            <a:ext cx="3778870" cy="544260"/>
          </a:xfrm>
        </p:spPr>
        <p:txBody>
          <a:bodyPr anchor="ctr">
            <a:normAutofit fontScale="77500" lnSpcReduction="20000"/>
          </a:bodyPr>
          <a:lstStyle/>
          <a:p>
            <a:pPr>
              <a:lnSpc>
                <a:spcPct val="90000"/>
              </a:lnSpc>
            </a:pPr>
            <a:r>
              <a:rPr lang="en-IN" sz="1900" dirty="0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Name: Sharvari Puranik</a:t>
            </a:r>
          </a:p>
          <a:p>
            <a:pPr>
              <a:lnSpc>
                <a:spcPct val="90000"/>
              </a:lnSpc>
            </a:pPr>
            <a:r>
              <a:rPr lang="en-IN" sz="1900" dirty="0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Role: Data Analysis</a:t>
            </a:r>
          </a:p>
          <a:p>
            <a:pPr>
              <a:lnSpc>
                <a:spcPct val="90000"/>
              </a:lnSpc>
            </a:pPr>
            <a:endParaRPr lang="en-IN" sz="1100" dirty="0">
              <a:solidFill>
                <a:srgbClr val="FE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0819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6AFD431-09B7-42CA-BF39-9FE5DBE53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11C96E-3D2D-48C8-AAB9-C1CB02D1D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accent1">
              <a:alpha val="30000"/>
            </a:schemeClr>
          </a:solidFill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D18AF42-7CD5-4754-91D4-1BE53B5D1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28C8F1A-9407-4D67-8250-D8923BC6DD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5CE0A2B0-F7F1-442C-A287-CD6F729E2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E69CFA3-AE12-4EAF-A3A1-564BEEFEF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ECB64037-2AE8-4CA9-AD8E-7ACC8618F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8D319B10-EE8E-453F-A137-D7EEFA208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283F486-509C-4A42-8EED-794A991D2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EBBFBB12-E756-4386-9C17-CA5743838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7ADD0E7E-F4A6-4B3F-8A2F-BCBFAFBA23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C19FCFB7-5E71-4197-8EC7-2ACB6DB028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EAA533FE-4903-48DD-A921-421A9C44AF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54CC5D8E-0D6C-4021-B84E-5D6182C0E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F1493C4-73DE-28ED-4318-5A422A35B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9756" y="1159566"/>
            <a:ext cx="3662939" cy="4568264"/>
          </a:xfrm>
        </p:spPr>
        <p:txBody>
          <a:bodyPr anchor="ctr">
            <a:normAutofit/>
          </a:bodyPr>
          <a:lstStyle/>
          <a:p>
            <a:r>
              <a:rPr lang="en-IN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Problem Statement</a:t>
            </a:r>
          </a:p>
        </p:txBody>
      </p:sp>
      <p:sp>
        <p:nvSpPr>
          <p:cNvPr id="24" name="Freeform 6">
            <a:extLst>
              <a:ext uri="{FF2B5EF4-FFF2-40B4-BE49-F238E27FC236}">
                <a16:creationId xmlns:a16="http://schemas.microsoft.com/office/drawing/2014/main" id="{E7D63BAB-D0DB-4F66-92F9-4D2E0A2E5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643468"/>
            <a:ext cx="7560245" cy="5571066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</p: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8D0EDC8C-7F33-4E0C-7BC5-470E3A462A7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37310" y="1286934"/>
          <a:ext cx="5292436" cy="42841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049213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7B5A23F-7276-435D-91DA-09104D7777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354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3ECD7F-BF61-4CB1-AA15-464BB771E7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6F1B29-3A08-4DB7-9F92-4C09B3BCF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8229600" cy="6858000"/>
          </a:xfrm>
          <a:prstGeom prst="rect">
            <a:avLst/>
          </a:prstGeom>
          <a:solidFill>
            <a:schemeClr val="bg2">
              <a:lumMod val="1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44A5AAD1-9616-4E1C-B3AC-E5497A6A3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59027"/>
            <a:ext cx="9042690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C82909-8DA6-4D41-E65A-03C769068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787400"/>
            <a:ext cx="7145866" cy="778933"/>
          </a:xfrm>
        </p:spPr>
        <p:txBody>
          <a:bodyPr anchor="ctr">
            <a:normAutofit/>
          </a:bodyPr>
          <a:lstStyle/>
          <a:p>
            <a:r>
              <a:rPr lang="en-IN" sz="3200" b="1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Workflow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7078C7A-6A4F-2ADB-F46C-6F72F1FCB5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670" y="1822552"/>
            <a:ext cx="4086329" cy="4698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5724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9EE869B-085D-43B3-AED8-9B0655612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4E744A-A072-47AF-981A-3718617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8229600" cy="6858000"/>
          </a:xfrm>
          <a:prstGeom prst="rect">
            <a:avLst/>
          </a:prstGeom>
          <a:solidFill>
            <a:schemeClr val="tx2">
              <a:lumMod val="1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B47B3927-85B1-F301-588E-67E14E26B5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393" r="26107"/>
          <a:stretch>
            <a:fillRect/>
          </a:stretch>
        </p:blipFill>
        <p:spPr>
          <a:xfrm>
            <a:off x="8229598" y="10"/>
            <a:ext cx="3962401" cy="6857990"/>
          </a:xfrm>
          <a:prstGeom prst="rect">
            <a:avLst/>
          </a:prstGeom>
        </p:spPr>
      </p:pic>
      <p:sp>
        <p:nvSpPr>
          <p:cNvPr id="13" name="Freeform 5">
            <a:extLst>
              <a:ext uri="{FF2B5EF4-FFF2-40B4-BE49-F238E27FC236}">
                <a16:creationId xmlns:a16="http://schemas.microsoft.com/office/drawing/2014/main" id="{F0254341-1068-4FB7-8AEF-220C6EB41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59027"/>
            <a:ext cx="9042690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5947BD-5DA4-AD44-4D74-F04E91DAD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787400"/>
            <a:ext cx="7145866" cy="778933"/>
          </a:xfrm>
        </p:spPr>
        <p:txBody>
          <a:bodyPr anchor="ctr">
            <a:normAutofit/>
          </a:bodyPr>
          <a:lstStyle/>
          <a:p>
            <a:r>
              <a:rPr lang="en-IN" sz="3200" b="1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 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BAF43-E418-7D92-F14D-B179205CA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866" y="2032000"/>
            <a:ext cx="7145867" cy="38792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>
                <a:solidFill>
                  <a:srgbClr val="FEFFFF"/>
                </a:solidFill>
              </a:rPr>
              <a:t>      Technology                                        Usage</a:t>
            </a:r>
          </a:p>
          <a:p>
            <a:r>
              <a:rPr lang="en-IN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                                               Data Processing</a:t>
            </a:r>
          </a:p>
          <a:p>
            <a:r>
              <a:rPr lang="en-IN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Pandas                                                Cleaning &amp; Transformation</a:t>
            </a:r>
          </a:p>
          <a:p>
            <a:r>
              <a:rPr lang="en-IN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Matplotlib                                          Charts</a:t>
            </a:r>
          </a:p>
          <a:p>
            <a:r>
              <a:rPr lang="en-IN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                                             Dashboard</a:t>
            </a:r>
          </a:p>
          <a:p>
            <a:r>
              <a:rPr lang="en-IN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                                                 Project Hosting</a:t>
            </a:r>
          </a:p>
        </p:txBody>
      </p:sp>
    </p:spTree>
    <p:extLst>
      <p:ext uri="{BB962C8B-B14F-4D97-AF65-F5344CB8AC3E}">
        <p14:creationId xmlns:p14="http://schemas.microsoft.com/office/powerpoint/2010/main" val="13983122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9EE869B-085D-43B3-AED8-9B0655612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4E744A-A072-47AF-981A-3718617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8229600" cy="6858000"/>
          </a:xfrm>
          <a:prstGeom prst="rect">
            <a:avLst/>
          </a:prstGeom>
          <a:solidFill>
            <a:schemeClr val="tx2">
              <a:lumMod val="1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7" name="Picture 6" descr="Vibrant multicolor checkered floor design">
            <a:extLst>
              <a:ext uri="{FF2B5EF4-FFF2-40B4-BE49-F238E27FC236}">
                <a16:creationId xmlns:a16="http://schemas.microsoft.com/office/drawing/2014/main" id="{46E92042-8CF9-5BA4-EA0E-DB0EC085FD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512" r="30488"/>
          <a:stretch>
            <a:fillRect/>
          </a:stretch>
        </p:blipFill>
        <p:spPr>
          <a:xfrm>
            <a:off x="8229598" y="10"/>
            <a:ext cx="3962401" cy="6857990"/>
          </a:xfrm>
          <a:prstGeom prst="rect">
            <a:avLst/>
          </a:prstGeom>
        </p:spPr>
      </p:pic>
      <p:sp>
        <p:nvSpPr>
          <p:cNvPr id="13" name="Freeform 5">
            <a:extLst>
              <a:ext uri="{FF2B5EF4-FFF2-40B4-BE49-F238E27FC236}">
                <a16:creationId xmlns:a16="http://schemas.microsoft.com/office/drawing/2014/main" id="{F0254341-1068-4FB7-8AEF-220C6EB41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59027"/>
            <a:ext cx="9042690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695025-EA2D-E6FE-7FEF-4775C5CF0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787400"/>
            <a:ext cx="7145866" cy="778933"/>
          </a:xfrm>
        </p:spPr>
        <p:txBody>
          <a:bodyPr anchor="ctr">
            <a:normAutofit/>
          </a:bodyPr>
          <a:lstStyle/>
          <a:p>
            <a:r>
              <a:rPr lang="en-IN" sz="3200" b="1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491AF-4766-F9A4-B92F-617C7A040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866" y="2032000"/>
            <a:ext cx="7145867" cy="3879222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Removed duplicate values </a:t>
            </a:r>
          </a:p>
          <a:p>
            <a:r>
              <a:rPr lang="en-IN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Filled missing/null values</a:t>
            </a:r>
          </a:p>
          <a:p>
            <a:r>
              <a:rPr lang="en-IN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Corrected data types </a:t>
            </a:r>
          </a:p>
          <a:p>
            <a:r>
              <a:rPr lang="en-IN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Standardized column format </a:t>
            </a:r>
          </a:p>
          <a:p>
            <a:r>
              <a:rPr lang="en-IN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Exported clean dataset</a:t>
            </a:r>
          </a:p>
        </p:txBody>
      </p:sp>
    </p:spTree>
    <p:extLst>
      <p:ext uri="{BB962C8B-B14F-4D97-AF65-F5344CB8AC3E}">
        <p14:creationId xmlns:p14="http://schemas.microsoft.com/office/powerpoint/2010/main" val="798340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roup 192">
            <a:extLst>
              <a:ext uri="{FF2B5EF4-FFF2-40B4-BE49-F238E27FC236}">
                <a16:creationId xmlns:a16="http://schemas.microsoft.com/office/drawing/2014/main" id="{7398C59F-5A18-487B-91D6-B955AACF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94" name="Freeform 11">
              <a:extLst>
                <a:ext uri="{FF2B5EF4-FFF2-40B4-BE49-F238E27FC236}">
                  <a16:creationId xmlns:a16="http://schemas.microsoft.com/office/drawing/2014/main" id="{0557FAFE-C7C3-47EC-A4F5-9B2166319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5" name="Freeform 12">
              <a:extLst>
                <a:ext uri="{FF2B5EF4-FFF2-40B4-BE49-F238E27FC236}">
                  <a16:creationId xmlns:a16="http://schemas.microsoft.com/office/drawing/2014/main" id="{95BC28FB-3882-4674-9D79-EA58BEB7C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6" name="Freeform 13">
              <a:extLst>
                <a:ext uri="{FF2B5EF4-FFF2-40B4-BE49-F238E27FC236}">
                  <a16:creationId xmlns:a16="http://schemas.microsoft.com/office/drawing/2014/main" id="{9C6EC892-83F9-402F-8552-0AD7C055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7" name="Freeform 14">
              <a:extLst>
                <a:ext uri="{FF2B5EF4-FFF2-40B4-BE49-F238E27FC236}">
                  <a16:creationId xmlns:a16="http://schemas.microsoft.com/office/drawing/2014/main" id="{18387766-037C-4EF0-8471-D19CBF2A4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8" name="Freeform 15">
              <a:extLst>
                <a:ext uri="{FF2B5EF4-FFF2-40B4-BE49-F238E27FC236}">
                  <a16:creationId xmlns:a16="http://schemas.microsoft.com/office/drawing/2014/main" id="{1E364F38-6F3A-476A-93E6-962EA817C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9" name="Freeform 16">
              <a:extLst>
                <a:ext uri="{FF2B5EF4-FFF2-40B4-BE49-F238E27FC236}">
                  <a16:creationId xmlns:a16="http://schemas.microsoft.com/office/drawing/2014/main" id="{35C335A4-1E67-4293-8BE2-DFB085D4F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0" name="Freeform 17">
              <a:extLst>
                <a:ext uri="{FF2B5EF4-FFF2-40B4-BE49-F238E27FC236}">
                  <a16:creationId xmlns:a16="http://schemas.microsoft.com/office/drawing/2014/main" id="{9A8A0F10-2C98-4297-9F92-5D9553392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1" name="Freeform 18">
              <a:extLst>
                <a:ext uri="{FF2B5EF4-FFF2-40B4-BE49-F238E27FC236}">
                  <a16:creationId xmlns:a16="http://schemas.microsoft.com/office/drawing/2014/main" id="{C3B112A3-006E-4008-A778-DB5F6A09D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2" name="Freeform 19">
              <a:extLst>
                <a:ext uri="{FF2B5EF4-FFF2-40B4-BE49-F238E27FC236}">
                  <a16:creationId xmlns:a16="http://schemas.microsoft.com/office/drawing/2014/main" id="{E5E62767-5C25-4C49-9568-432433A3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3" name="Freeform 20">
              <a:extLst>
                <a:ext uri="{FF2B5EF4-FFF2-40B4-BE49-F238E27FC236}">
                  <a16:creationId xmlns:a16="http://schemas.microsoft.com/office/drawing/2014/main" id="{598EC006-77B1-42BA-B815-66CCB9B17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4" name="Freeform 21">
              <a:extLst>
                <a:ext uri="{FF2B5EF4-FFF2-40B4-BE49-F238E27FC236}">
                  <a16:creationId xmlns:a16="http://schemas.microsoft.com/office/drawing/2014/main" id="{A144ED09-DA06-491D-95A8-AB3DED432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5" name="Freeform 22">
              <a:extLst>
                <a:ext uri="{FF2B5EF4-FFF2-40B4-BE49-F238E27FC236}">
                  <a16:creationId xmlns:a16="http://schemas.microsoft.com/office/drawing/2014/main" id="{1CB00BD2-11CD-4A38-8F38-02B0D11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520234FB-542E-4550-9C2F-1B56FD41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08" name="Freeform 27">
              <a:extLst>
                <a:ext uri="{FF2B5EF4-FFF2-40B4-BE49-F238E27FC236}">
                  <a16:creationId xmlns:a16="http://schemas.microsoft.com/office/drawing/2014/main" id="{41FCE1F3-DEB3-47CD-90FF-7DABB4AF4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9" name="Freeform 28">
              <a:extLst>
                <a:ext uri="{FF2B5EF4-FFF2-40B4-BE49-F238E27FC236}">
                  <a16:creationId xmlns:a16="http://schemas.microsoft.com/office/drawing/2014/main" id="{5708E488-C19B-452C-B197-6F1C34F6E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0" name="Freeform 29">
              <a:extLst>
                <a:ext uri="{FF2B5EF4-FFF2-40B4-BE49-F238E27FC236}">
                  <a16:creationId xmlns:a16="http://schemas.microsoft.com/office/drawing/2014/main" id="{89D3FD25-890E-4981-A71D-EE796873D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1" name="Freeform 30">
              <a:extLst>
                <a:ext uri="{FF2B5EF4-FFF2-40B4-BE49-F238E27FC236}">
                  <a16:creationId xmlns:a16="http://schemas.microsoft.com/office/drawing/2014/main" id="{51B5414C-556A-47CB-8EE2-974A85A7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2" name="Freeform 31">
              <a:extLst>
                <a:ext uri="{FF2B5EF4-FFF2-40B4-BE49-F238E27FC236}">
                  <a16:creationId xmlns:a16="http://schemas.microsoft.com/office/drawing/2014/main" id="{1C02B20C-2B27-4B75-8AEE-A5D2E2674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3" name="Freeform 32">
              <a:extLst>
                <a:ext uri="{FF2B5EF4-FFF2-40B4-BE49-F238E27FC236}">
                  <a16:creationId xmlns:a16="http://schemas.microsoft.com/office/drawing/2014/main" id="{54427714-F9AA-4F93-BD1D-400F1EA93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4" name="Freeform 33">
              <a:extLst>
                <a:ext uri="{FF2B5EF4-FFF2-40B4-BE49-F238E27FC236}">
                  <a16:creationId xmlns:a16="http://schemas.microsoft.com/office/drawing/2014/main" id="{28A77D6A-9E81-497F-ABCC-2695BB5AD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5" name="Freeform 34">
              <a:extLst>
                <a:ext uri="{FF2B5EF4-FFF2-40B4-BE49-F238E27FC236}">
                  <a16:creationId xmlns:a16="http://schemas.microsoft.com/office/drawing/2014/main" id="{2A1533BA-1478-4F7C-8E24-3F3E90505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6" name="Freeform 35">
              <a:extLst>
                <a:ext uri="{FF2B5EF4-FFF2-40B4-BE49-F238E27FC236}">
                  <a16:creationId xmlns:a16="http://schemas.microsoft.com/office/drawing/2014/main" id="{39686201-E633-40FD-A80A-1E28AD52E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7" name="Freeform 36">
              <a:extLst>
                <a:ext uri="{FF2B5EF4-FFF2-40B4-BE49-F238E27FC236}">
                  <a16:creationId xmlns:a16="http://schemas.microsoft.com/office/drawing/2014/main" id="{76A215C2-F590-4938-810B-F8A79366C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8" name="Freeform 37">
              <a:extLst>
                <a:ext uri="{FF2B5EF4-FFF2-40B4-BE49-F238E27FC236}">
                  <a16:creationId xmlns:a16="http://schemas.microsoft.com/office/drawing/2014/main" id="{85F418E7-330D-4002-8EC8-33C1A897F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9" name="Freeform 38">
              <a:extLst>
                <a:ext uri="{FF2B5EF4-FFF2-40B4-BE49-F238E27FC236}">
                  <a16:creationId xmlns:a16="http://schemas.microsoft.com/office/drawing/2014/main" id="{8FFE669A-54C9-4436-9566-C5A90F16D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221" name="Rectangle 220">
            <a:extLst>
              <a:ext uri="{FF2B5EF4-FFF2-40B4-BE49-F238E27FC236}">
                <a16:creationId xmlns:a16="http://schemas.microsoft.com/office/drawing/2014/main" id="{DE91395A-2D18-4AF6-A0AC-AAA7189F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3" name="Freeform 11">
            <a:extLst>
              <a:ext uri="{FF2B5EF4-FFF2-40B4-BE49-F238E27FC236}">
                <a16:creationId xmlns:a16="http://schemas.microsoft.com/office/drawing/2014/main" id="{A57352BE-A213-4040-BE8E-D4A925AD9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B2EC7880-C5D9-40A8-A6B0-3198AD07A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4619543" cy="6854038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B7A734A0-7642-CF34-BD3A-E3CC88BDF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/>
              <a:t>Customers Segment by Orders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78C75D7-4039-DAE3-364F-7D8BE03CF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5" y="2133600"/>
            <a:ext cx="3650278" cy="375925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 3" charset="2"/>
              <a:buChar char=""/>
            </a:pPr>
            <a:r>
              <a:rPr lang="en-US" b="1"/>
              <a:t>Insights</a:t>
            </a:r>
            <a:endParaRPr lang="en-US"/>
          </a:p>
          <a:p>
            <a:pPr marL="285750" lvl="0" indent="-285750">
              <a:buFont typeface="Wingdings 3" charset="2"/>
              <a:buChar char=""/>
            </a:pPr>
            <a:r>
              <a:rPr lang="en-US"/>
              <a:t>B2B segment has the highest number of orders. </a:t>
            </a:r>
          </a:p>
          <a:p>
            <a:pPr marL="285750" lvl="0" indent="-285750">
              <a:buFont typeface="Wingdings 3" charset="2"/>
              <a:buChar char=""/>
            </a:pPr>
            <a:r>
              <a:rPr lang="en-US"/>
              <a:t>B2C segment is slightly lower than B2B. </a:t>
            </a:r>
          </a:p>
          <a:p>
            <a:pPr marL="285750" lvl="0" indent="-285750">
              <a:buFont typeface="Wingdings 3" charset="2"/>
              <a:buChar char=""/>
            </a:pPr>
            <a:r>
              <a:rPr lang="en-US"/>
              <a:t>B2D segment has the lowest orders among all segments. </a:t>
            </a:r>
          </a:p>
          <a:p>
            <a:pPr marL="285750" lvl="0" indent="-285750">
              <a:buFont typeface="Wingdings 3" charset="2"/>
              <a:buChar char=""/>
            </a:pPr>
            <a:r>
              <a:rPr lang="en-US"/>
              <a:t>Order distribution is almost equal across all segments. </a:t>
            </a:r>
          </a:p>
          <a:p>
            <a:pPr marL="285750" lvl="0" indent="-285750">
              <a:buFont typeface="Wingdings 3" charset="2"/>
              <a:buChar char=""/>
            </a:pPr>
            <a:r>
              <a:rPr lang="en-US"/>
              <a:t>All customer segments contribute consistently to overall business performance. </a:t>
            </a:r>
          </a:p>
          <a:p>
            <a:pPr>
              <a:buFont typeface="Wingdings 3" charset="2"/>
              <a:buChar char=""/>
            </a:pPr>
            <a:endParaRPr lang="en-US"/>
          </a:p>
          <a:p>
            <a:pPr>
              <a:buFont typeface="Wingdings 3" charset="2"/>
              <a:buChar char=""/>
            </a:pPr>
            <a:endParaRPr lang="en-US"/>
          </a:p>
        </p:txBody>
      </p:sp>
      <p:pic>
        <p:nvPicPr>
          <p:cNvPr id="50" name="Content Placeholder 49">
            <a:extLst>
              <a:ext uri="{FF2B5EF4-FFF2-40B4-BE49-F238E27FC236}">
                <a16:creationId xmlns:a16="http://schemas.microsoft.com/office/drawing/2014/main" id="{B8A90950-80D8-638B-FEE6-F8D0746EB0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702" y="-787"/>
            <a:ext cx="7553297" cy="6854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3740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7398C59F-5A18-487B-91D6-B955AACF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54" name="Freeform 11">
              <a:extLst>
                <a:ext uri="{FF2B5EF4-FFF2-40B4-BE49-F238E27FC236}">
                  <a16:creationId xmlns:a16="http://schemas.microsoft.com/office/drawing/2014/main" id="{0557FAFE-C7C3-47EC-A4F5-9B2166319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5" name="Freeform 12">
              <a:extLst>
                <a:ext uri="{FF2B5EF4-FFF2-40B4-BE49-F238E27FC236}">
                  <a16:creationId xmlns:a16="http://schemas.microsoft.com/office/drawing/2014/main" id="{95BC28FB-3882-4674-9D79-EA58BEB7C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6" name="Freeform 13">
              <a:extLst>
                <a:ext uri="{FF2B5EF4-FFF2-40B4-BE49-F238E27FC236}">
                  <a16:creationId xmlns:a16="http://schemas.microsoft.com/office/drawing/2014/main" id="{9C6EC892-83F9-402F-8552-0AD7C055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7" name="Freeform 14">
              <a:extLst>
                <a:ext uri="{FF2B5EF4-FFF2-40B4-BE49-F238E27FC236}">
                  <a16:creationId xmlns:a16="http://schemas.microsoft.com/office/drawing/2014/main" id="{18387766-037C-4EF0-8471-D19CBF2A4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8" name="Freeform 15">
              <a:extLst>
                <a:ext uri="{FF2B5EF4-FFF2-40B4-BE49-F238E27FC236}">
                  <a16:creationId xmlns:a16="http://schemas.microsoft.com/office/drawing/2014/main" id="{1E364F38-6F3A-476A-93E6-962EA817C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9" name="Freeform 16">
              <a:extLst>
                <a:ext uri="{FF2B5EF4-FFF2-40B4-BE49-F238E27FC236}">
                  <a16:creationId xmlns:a16="http://schemas.microsoft.com/office/drawing/2014/main" id="{35C335A4-1E67-4293-8BE2-DFB085D4F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0" name="Freeform 17">
              <a:extLst>
                <a:ext uri="{FF2B5EF4-FFF2-40B4-BE49-F238E27FC236}">
                  <a16:creationId xmlns:a16="http://schemas.microsoft.com/office/drawing/2014/main" id="{9A8A0F10-2C98-4297-9F92-5D9553392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1" name="Freeform 18">
              <a:extLst>
                <a:ext uri="{FF2B5EF4-FFF2-40B4-BE49-F238E27FC236}">
                  <a16:creationId xmlns:a16="http://schemas.microsoft.com/office/drawing/2014/main" id="{C3B112A3-006E-4008-A778-DB5F6A09D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2" name="Freeform 19">
              <a:extLst>
                <a:ext uri="{FF2B5EF4-FFF2-40B4-BE49-F238E27FC236}">
                  <a16:creationId xmlns:a16="http://schemas.microsoft.com/office/drawing/2014/main" id="{E5E62767-5C25-4C49-9568-432433A3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3" name="Freeform 20">
              <a:extLst>
                <a:ext uri="{FF2B5EF4-FFF2-40B4-BE49-F238E27FC236}">
                  <a16:creationId xmlns:a16="http://schemas.microsoft.com/office/drawing/2014/main" id="{598EC006-77B1-42BA-B815-66CCB9B17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4" name="Freeform 21">
              <a:extLst>
                <a:ext uri="{FF2B5EF4-FFF2-40B4-BE49-F238E27FC236}">
                  <a16:creationId xmlns:a16="http://schemas.microsoft.com/office/drawing/2014/main" id="{A144ED09-DA06-491D-95A8-AB3DED432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5" name="Freeform 22">
              <a:extLst>
                <a:ext uri="{FF2B5EF4-FFF2-40B4-BE49-F238E27FC236}">
                  <a16:creationId xmlns:a16="http://schemas.microsoft.com/office/drawing/2014/main" id="{1CB00BD2-11CD-4A38-8F38-02B0D11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20234FB-542E-4550-9C2F-1B56FD41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68" name="Freeform 27">
              <a:extLst>
                <a:ext uri="{FF2B5EF4-FFF2-40B4-BE49-F238E27FC236}">
                  <a16:creationId xmlns:a16="http://schemas.microsoft.com/office/drawing/2014/main" id="{41FCE1F3-DEB3-47CD-90FF-7DABB4AF4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9" name="Freeform 28">
              <a:extLst>
                <a:ext uri="{FF2B5EF4-FFF2-40B4-BE49-F238E27FC236}">
                  <a16:creationId xmlns:a16="http://schemas.microsoft.com/office/drawing/2014/main" id="{5708E488-C19B-452C-B197-6F1C34F6E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0" name="Freeform 29">
              <a:extLst>
                <a:ext uri="{FF2B5EF4-FFF2-40B4-BE49-F238E27FC236}">
                  <a16:creationId xmlns:a16="http://schemas.microsoft.com/office/drawing/2014/main" id="{89D3FD25-890E-4981-A71D-EE796873D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1" name="Freeform 30">
              <a:extLst>
                <a:ext uri="{FF2B5EF4-FFF2-40B4-BE49-F238E27FC236}">
                  <a16:creationId xmlns:a16="http://schemas.microsoft.com/office/drawing/2014/main" id="{51B5414C-556A-47CB-8EE2-974A85A7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2" name="Freeform 31">
              <a:extLst>
                <a:ext uri="{FF2B5EF4-FFF2-40B4-BE49-F238E27FC236}">
                  <a16:creationId xmlns:a16="http://schemas.microsoft.com/office/drawing/2014/main" id="{1C02B20C-2B27-4B75-8AEE-A5D2E2674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3" name="Freeform 32">
              <a:extLst>
                <a:ext uri="{FF2B5EF4-FFF2-40B4-BE49-F238E27FC236}">
                  <a16:creationId xmlns:a16="http://schemas.microsoft.com/office/drawing/2014/main" id="{54427714-F9AA-4F93-BD1D-400F1EA93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4" name="Freeform 33">
              <a:extLst>
                <a:ext uri="{FF2B5EF4-FFF2-40B4-BE49-F238E27FC236}">
                  <a16:creationId xmlns:a16="http://schemas.microsoft.com/office/drawing/2014/main" id="{28A77D6A-9E81-497F-ABCC-2695BB5AD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5" name="Freeform 34">
              <a:extLst>
                <a:ext uri="{FF2B5EF4-FFF2-40B4-BE49-F238E27FC236}">
                  <a16:creationId xmlns:a16="http://schemas.microsoft.com/office/drawing/2014/main" id="{2A1533BA-1478-4F7C-8E24-3F3E90505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6" name="Freeform 35">
              <a:extLst>
                <a:ext uri="{FF2B5EF4-FFF2-40B4-BE49-F238E27FC236}">
                  <a16:creationId xmlns:a16="http://schemas.microsoft.com/office/drawing/2014/main" id="{39686201-E633-40FD-A80A-1E28AD52E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7" name="Freeform 36">
              <a:extLst>
                <a:ext uri="{FF2B5EF4-FFF2-40B4-BE49-F238E27FC236}">
                  <a16:creationId xmlns:a16="http://schemas.microsoft.com/office/drawing/2014/main" id="{76A215C2-F590-4938-810B-F8A79366C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8" name="Freeform 37">
              <a:extLst>
                <a:ext uri="{FF2B5EF4-FFF2-40B4-BE49-F238E27FC236}">
                  <a16:creationId xmlns:a16="http://schemas.microsoft.com/office/drawing/2014/main" id="{85F418E7-330D-4002-8EC8-33C1A897F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9" name="Freeform 38">
              <a:extLst>
                <a:ext uri="{FF2B5EF4-FFF2-40B4-BE49-F238E27FC236}">
                  <a16:creationId xmlns:a16="http://schemas.microsoft.com/office/drawing/2014/main" id="{8FFE669A-54C9-4436-9566-C5A90F16D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81" name="Rectangle 80">
            <a:extLst>
              <a:ext uri="{FF2B5EF4-FFF2-40B4-BE49-F238E27FC236}">
                <a16:creationId xmlns:a16="http://schemas.microsoft.com/office/drawing/2014/main" id="{DE91395A-2D18-4AF6-A0AC-AAA7189F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3" name="Freeform 11">
            <a:extLst>
              <a:ext uri="{FF2B5EF4-FFF2-40B4-BE49-F238E27FC236}">
                <a16:creationId xmlns:a16="http://schemas.microsoft.com/office/drawing/2014/main" id="{A57352BE-A213-4040-BE8E-D4A925AD9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2EC7880-C5D9-40A8-A6B0-3198AD07A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4619543" cy="6854038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A8B003-7D26-1B8E-87D4-2BCF4A1E7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b="1"/>
              <a:t>Year Wise Profit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6DC525-54D8-7DBD-E55F-964370F708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5" y="2133600"/>
            <a:ext cx="3650278" cy="375925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 3" charset="2"/>
              <a:buChar char=""/>
            </a:pPr>
            <a:r>
              <a:rPr lang="en-US" b="1"/>
              <a:t>Insights</a:t>
            </a:r>
            <a:endParaRPr lang="en-US"/>
          </a:p>
          <a:p>
            <a:pPr marL="342900" lvl="0" indent="-342900">
              <a:buFont typeface="Wingdings 3" charset="2"/>
              <a:buChar char=""/>
            </a:pPr>
            <a:r>
              <a:rPr lang="en-US" b="1"/>
              <a:t>2025 recorded the highest profit</a:t>
            </a:r>
            <a:r>
              <a:rPr lang="en-US"/>
              <a:t>, showing the best business performance. </a:t>
            </a:r>
          </a:p>
          <a:p>
            <a:pPr marL="342900" lvl="0" indent="-342900">
              <a:buFont typeface="Wingdings 3" charset="2"/>
              <a:buChar char=""/>
            </a:pPr>
            <a:r>
              <a:rPr lang="en-US" b="1"/>
              <a:t>2024 also generated very high profit</a:t>
            </a:r>
            <a:r>
              <a:rPr lang="en-US"/>
              <a:t>, close to 2025. </a:t>
            </a:r>
          </a:p>
          <a:p>
            <a:pPr marL="342900" lvl="0" indent="-342900">
              <a:buFont typeface="Wingdings 3" charset="2"/>
              <a:buChar char=""/>
            </a:pPr>
            <a:r>
              <a:rPr lang="en-US" b="1"/>
              <a:t>2021 showed stable profit performance</a:t>
            </a:r>
            <a:r>
              <a:rPr lang="en-US"/>
              <a:t> compared to earlier years. </a:t>
            </a:r>
          </a:p>
          <a:p>
            <a:pPr marL="342900" lvl="0" indent="-342900">
              <a:buFont typeface="Wingdings 3" charset="2"/>
              <a:buChar char=""/>
            </a:pPr>
            <a:r>
              <a:rPr lang="en-US" b="1"/>
              <a:t>2023 had significantly lower profit</a:t>
            </a:r>
            <a:r>
              <a:rPr lang="en-US"/>
              <a:t>, indicating weak performance. </a:t>
            </a:r>
          </a:p>
          <a:p>
            <a:pPr marL="342900" lvl="0" indent="-342900">
              <a:buFont typeface="Wingdings 3" charset="2"/>
              <a:buChar char=""/>
            </a:pPr>
            <a:r>
              <a:rPr lang="en-US" b="1"/>
              <a:t>Profit growth increased strongly after 2023</a:t>
            </a:r>
            <a:r>
              <a:rPr lang="en-US"/>
              <a:t>, showing business recovery and improvement. </a:t>
            </a:r>
          </a:p>
          <a:p>
            <a:pPr>
              <a:buFont typeface="Wingdings 3" charset="2"/>
              <a:buChar char=""/>
            </a:pPr>
            <a:endParaRPr lang="en-US"/>
          </a:p>
          <a:p>
            <a:pPr>
              <a:buFont typeface="Wingdings 3" charset="2"/>
              <a:buChar char=""/>
            </a:pPr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531A9FE-AC2A-7B36-12F4-868A83507F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030" y="0"/>
            <a:ext cx="7537969" cy="686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5574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7398C59F-5A18-487B-91D6-B955AACF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54" name="Freeform 11">
              <a:extLst>
                <a:ext uri="{FF2B5EF4-FFF2-40B4-BE49-F238E27FC236}">
                  <a16:creationId xmlns:a16="http://schemas.microsoft.com/office/drawing/2014/main" id="{0557FAFE-C7C3-47EC-A4F5-9B2166319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5" name="Freeform 12">
              <a:extLst>
                <a:ext uri="{FF2B5EF4-FFF2-40B4-BE49-F238E27FC236}">
                  <a16:creationId xmlns:a16="http://schemas.microsoft.com/office/drawing/2014/main" id="{95BC28FB-3882-4674-9D79-EA58BEB7C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6" name="Freeform 13">
              <a:extLst>
                <a:ext uri="{FF2B5EF4-FFF2-40B4-BE49-F238E27FC236}">
                  <a16:creationId xmlns:a16="http://schemas.microsoft.com/office/drawing/2014/main" id="{9C6EC892-83F9-402F-8552-0AD7C055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7" name="Freeform 14">
              <a:extLst>
                <a:ext uri="{FF2B5EF4-FFF2-40B4-BE49-F238E27FC236}">
                  <a16:creationId xmlns:a16="http://schemas.microsoft.com/office/drawing/2014/main" id="{18387766-037C-4EF0-8471-D19CBF2A4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8" name="Freeform 15">
              <a:extLst>
                <a:ext uri="{FF2B5EF4-FFF2-40B4-BE49-F238E27FC236}">
                  <a16:creationId xmlns:a16="http://schemas.microsoft.com/office/drawing/2014/main" id="{1E364F38-6F3A-476A-93E6-962EA817C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9" name="Freeform 16">
              <a:extLst>
                <a:ext uri="{FF2B5EF4-FFF2-40B4-BE49-F238E27FC236}">
                  <a16:creationId xmlns:a16="http://schemas.microsoft.com/office/drawing/2014/main" id="{35C335A4-1E67-4293-8BE2-DFB085D4F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0" name="Freeform 17">
              <a:extLst>
                <a:ext uri="{FF2B5EF4-FFF2-40B4-BE49-F238E27FC236}">
                  <a16:creationId xmlns:a16="http://schemas.microsoft.com/office/drawing/2014/main" id="{9A8A0F10-2C98-4297-9F92-5D9553392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1" name="Freeform 18">
              <a:extLst>
                <a:ext uri="{FF2B5EF4-FFF2-40B4-BE49-F238E27FC236}">
                  <a16:creationId xmlns:a16="http://schemas.microsoft.com/office/drawing/2014/main" id="{C3B112A3-006E-4008-A778-DB5F6A09D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2" name="Freeform 19">
              <a:extLst>
                <a:ext uri="{FF2B5EF4-FFF2-40B4-BE49-F238E27FC236}">
                  <a16:creationId xmlns:a16="http://schemas.microsoft.com/office/drawing/2014/main" id="{E5E62767-5C25-4C49-9568-432433A3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3" name="Freeform 20">
              <a:extLst>
                <a:ext uri="{FF2B5EF4-FFF2-40B4-BE49-F238E27FC236}">
                  <a16:creationId xmlns:a16="http://schemas.microsoft.com/office/drawing/2014/main" id="{598EC006-77B1-42BA-B815-66CCB9B17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4" name="Freeform 21">
              <a:extLst>
                <a:ext uri="{FF2B5EF4-FFF2-40B4-BE49-F238E27FC236}">
                  <a16:creationId xmlns:a16="http://schemas.microsoft.com/office/drawing/2014/main" id="{A144ED09-DA06-491D-95A8-AB3DED432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5" name="Freeform 22">
              <a:extLst>
                <a:ext uri="{FF2B5EF4-FFF2-40B4-BE49-F238E27FC236}">
                  <a16:creationId xmlns:a16="http://schemas.microsoft.com/office/drawing/2014/main" id="{1CB00BD2-11CD-4A38-8F38-02B0D11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20234FB-542E-4550-9C2F-1B56FD41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68" name="Freeform 27">
              <a:extLst>
                <a:ext uri="{FF2B5EF4-FFF2-40B4-BE49-F238E27FC236}">
                  <a16:creationId xmlns:a16="http://schemas.microsoft.com/office/drawing/2014/main" id="{41FCE1F3-DEB3-47CD-90FF-7DABB4AF4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9" name="Freeform 28">
              <a:extLst>
                <a:ext uri="{FF2B5EF4-FFF2-40B4-BE49-F238E27FC236}">
                  <a16:creationId xmlns:a16="http://schemas.microsoft.com/office/drawing/2014/main" id="{5708E488-C19B-452C-B197-6F1C34F6E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0" name="Freeform 29">
              <a:extLst>
                <a:ext uri="{FF2B5EF4-FFF2-40B4-BE49-F238E27FC236}">
                  <a16:creationId xmlns:a16="http://schemas.microsoft.com/office/drawing/2014/main" id="{89D3FD25-890E-4981-A71D-EE796873D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1" name="Freeform 30">
              <a:extLst>
                <a:ext uri="{FF2B5EF4-FFF2-40B4-BE49-F238E27FC236}">
                  <a16:creationId xmlns:a16="http://schemas.microsoft.com/office/drawing/2014/main" id="{51B5414C-556A-47CB-8EE2-974A85A7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2" name="Freeform 31">
              <a:extLst>
                <a:ext uri="{FF2B5EF4-FFF2-40B4-BE49-F238E27FC236}">
                  <a16:creationId xmlns:a16="http://schemas.microsoft.com/office/drawing/2014/main" id="{1C02B20C-2B27-4B75-8AEE-A5D2E2674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3" name="Freeform 32">
              <a:extLst>
                <a:ext uri="{FF2B5EF4-FFF2-40B4-BE49-F238E27FC236}">
                  <a16:creationId xmlns:a16="http://schemas.microsoft.com/office/drawing/2014/main" id="{54427714-F9AA-4F93-BD1D-400F1EA93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4" name="Freeform 33">
              <a:extLst>
                <a:ext uri="{FF2B5EF4-FFF2-40B4-BE49-F238E27FC236}">
                  <a16:creationId xmlns:a16="http://schemas.microsoft.com/office/drawing/2014/main" id="{28A77D6A-9E81-497F-ABCC-2695BB5AD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5" name="Freeform 34">
              <a:extLst>
                <a:ext uri="{FF2B5EF4-FFF2-40B4-BE49-F238E27FC236}">
                  <a16:creationId xmlns:a16="http://schemas.microsoft.com/office/drawing/2014/main" id="{2A1533BA-1478-4F7C-8E24-3F3E90505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6" name="Freeform 35">
              <a:extLst>
                <a:ext uri="{FF2B5EF4-FFF2-40B4-BE49-F238E27FC236}">
                  <a16:creationId xmlns:a16="http://schemas.microsoft.com/office/drawing/2014/main" id="{39686201-E633-40FD-A80A-1E28AD52E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7" name="Freeform 36">
              <a:extLst>
                <a:ext uri="{FF2B5EF4-FFF2-40B4-BE49-F238E27FC236}">
                  <a16:creationId xmlns:a16="http://schemas.microsoft.com/office/drawing/2014/main" id="{76A215C2-F590-4938-810B-F8A79366C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8" name="Freeform 37">
              <a:extLst>
                <a:ext uri="{FF2B5EF4-FFF2-40B4-BE49-F238E27FC236}">
                  <a16:creationId xmlns:a16="http://schemas.microsoft.com/office/drawing/2014/main" id="{85F418E7-330D-4002-8EC8-33C1A897F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9" name="Freeform 38">
              <a:extLst>
                <a:ext uri="{FF2B5EF4-FFF2-40B4-BE49-F238E27FC236}">
                  <a16:creationId xmlns:a16="http://schemas.microsoft.com/office/drawing/2014/main" id="{8FFE669A-54C9-4436-9566-C5A90F16D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81" name="Rectangle 80">
            <a:extLst>
              <a:ext uri="{FF2B5EF4-FFF2-40B4-BE49-F238E27FC236}">
                <a16:creationId xmlns:a16="http://schemas.microsoft.com/office/drawing/2014/main" id="{DE91395A-2D18-4AF6-A0AC-AAA7189F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3" name="Freeform 11">
            <a:extLst>
              <a:ext uri="{FF2B5EF4-FFF2-40B4-BE49-F238E27FC236}">
                <a16:creationId xmlns:a16="http://schemas.microsoft.com/office/drawing/2014/main" id="{A57352BE-A213-4040-BE8E-D4A925AD9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2EC7880-C5D9-40A8-A6B0-3198AD07A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4619543" cy="6854038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74A7EA-EC6D-9862-9728-FBE50FA58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b="1"/>
              <a:t>Sales By City</a:t>
            </a:r>
            <a:br>
              <a:rPr lang="en-US" sz="3600"/>
            </a:br>
            <a:endParaRPr lang="en-US" sz="36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97A7A-2DB5-21C9-233A-565672A34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5" y="2133600"/>
            <a:ext cx="3650278" cy="375925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 3" charset="2"/>
              <a:buChar char=""/>
            </a:pPr>
            <a:r>
              <a:rPr lang="en-US" b="1"/>
              <a:t>Insights</a:t>
            </a:r>
            <a:endParaRPr lang="en-US"/>
          </a:p>
          <a:p>
            <a:pPr marL="285750" lvl="0" indent="-285750">
              <a:buFont typeface="Wingdings 3" charset="2"/>
              <a:buChar char=""/>
            </a:pPr>
            <a:r>
              <a:rPr lang="en-US"/>
              <a:t>  Mumbai recorded the highest sales, making it the top-performing city. </a:t>
            </a:r>
          </a:p>
          <a:p>
            <a:pPr marL="285750" lvl="0" indent="-285750">
              <a:buFont typeface="Wingdings 3" charset="2"/>
              <a:buChar char=""/>
            </a:pPr>
            <a:r>
              <a:rPr lang="en-US"/>
              <a:t>  Ahmedabad, Delhi, and Pune also contributed high sales revenue. </a:t>
            </a:r>
          </a:p>
          <a:p>
            <a:pPr marL="285750" lvl="0" indent="-285750">
              <a:buFont typeface="Wingdings 3" charset="2"/>
              <a:buChar char=""/>
            </a:pPr>
            <a:r>
              <a:rPr lang="en-US"/>
              <a:t>  Bangalore and Bengaluru show moderate sales performance. </a:t>
            </a:r>
          </a:p>
          <a:p>
            <a:pPr marL="285750" lvl="0" indent="-285750">
              <a:buFont typeface="Wingdings 3" charset="2"/>
              <a:buChar char=""/>
            </a:pPr>
            <a:r>
              <a:rPr lang="en-US"/>
              <a:t>  Hyderabad-related entries have comparatively lower sales. </a:t>
            </a:r>
          </a:p>
          <a:p>
            <a:pPr marL="285750" lvl="0" indent="-285750">
              <a:buFont typeface="Wingdings 3" charset="2"/>
              <a:buChar char=""/>
            </a:pPr>
            <a:r>
              <a:rPr lang="en-US"/>
              <a:t>  Metro cities contribute the largest share of overall sales growth.</a:t>
            </a:r>
          </a:p>
          <a:p>
            <a:pPr>
              <a:buFont typeface="Wingdings 3" charset="2"/>
              <a:buChar char=""/>
            </a:pPr>
            <a:endParaRPr lang="en-US"/>
          </a:p>
          <a:p>
            <a:pPr>
              <a:buFont typeface="Wingdings 3" charset="2"/>
              <a:buChar char=""/>
            </a:pPr>
            <a:endParaRPr lang="en-US"/>
          </a:p>
          <a:p>
            <a:pPr>
              <a:buFont typeface="Wingdings 3" charset="2"/>
              <a:buChar char=""/>
            </a:pPr>
            <a:endParaRPr lang="en-US"/>
          </a:p>
        </p:txBody>
      </p:sp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4D52C086-DCD9-C2C4-8155-34D0BDD976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961" y="-241161"/>
            <a:ext cx="7607030" cy="7138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1355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7398C59F-5A18-487B-91D6-B955AACF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54" name="Freeform 11">
              <a:extLst>
                <a:ext uri="{FF2B5EF4-FFF2-40B4-BE49-F238E27FC236}">
                  <a16:creationId xmlns:a16="http://schemas.microsoft.com/office/drawing/2014/main" id="{0557FAFE-C7C3-47EC-A4F5-9B2166319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5" name="Freeform 12">
              <a:extLst>
                <a:ext uri="{FF2B5EF4-FFF2-40B4-BE49-F238E27FC236}">
                  <a16:creationId xmlns:a16="http://schemas.microsoft.com/office/drawing/2014/main" id="{95BC28FB-3882-4674-9D79-EA58BEB7C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6" name="Freeform 13">
              <a:extLst>
                <a:ext uri="{FF2B5EF4-FFF2-40B4-BE49-F238E27FC236}">
                  <a16:creationId xmlns:a16="http://schemas.microsoft.com/office/drawing/2014/main" id="{9C6EC892-83F9-402F-8552-0AD7C055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7" name="Freeform 14">
              <a:extLst>
                <a:ext uri="{FF2B5EF4-FFF2-40B4-BE49-F238E27FC236}">
                  <a16:creationId xmlns:a16="http://schemas.microsoft.com/office/drawing/2014/main" id="{18387766-037C-4EF0-8471-D19CBF2A4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8" name="Freeform 15">
              <a:extLst>
                <a:ext uri="{FF2B5EF4-FFF2-40B4-BE49-F238E27FC236}">
                  <a16:creationId xmlns:a16="http://schemas.microsoft.com/office/drawing/2014/main" id="{1E364F38-6F3A-476A-93E6-962EA817C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9" name="Freeform 16">
              <a:extLst>
                <a:ext uri="{FF2B5EF4-FFF2-40B4-BE49-F238E27FC236}">
                  <a16:creationId xmlns:a16="http://schemas.microsoft.com/office/drawing/2014/main" id="{35C335A4-1E67-4293-8BE2-DFB085D4F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0" name="Freeform 17">
              <a:extLst>
                <a:ext uri="{FF2B5EF4-FFF2-40B4-BE49-F238E27FC236}">
                  <a16:creationId xmlns:a16="http://schemas.microsoft.com/office/drawing/2014/main" id="{9A8A0F10-2C98-4297-9F92-5D9553392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1" name="Freeform 18">
              <a:extLst>
                <a:ext uri="{FF2B5EF4-FFF2-40B4-BE49-F238E27FC236}">
                  <a16:creationId xmlns:a16="http://schemas.microsoft.com/office/drawing/2014/main" id="{C3B112A3-006E-4008-A778-DB5F6A09D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2" name="Freeform 19">
              <a:extLst>
                <a:ext uri="{FF2B5EF4-FFF2-40B4-BE49-F238E27FC236}">
                  <a16:creationId xmlns:a16="http://schemas.microsoft.com/office/drawing/2014/main" id="{E5E62767-5C25-4C49-9568-432433A3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3" name="Freeform 20">
              <a:extLst>
                <a:ext uri="{FF2B5EF4-FFF2-40B4-BE49-F238E27FC236}">
                  <a16:creationId xmlns:a16="http://schemas.microsoft.com/office/drawing/2014/main" id="{598EC006-77B1-42BA-B815-66CCB9B17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4" name="Freeform 21">
              <a:extLst>
                <a:ext uri="{FF2B5EF4-FFF2-40B4-BE49-F238E27FC236}">
                  <a16:creationId xmlns:a16="http://schemas.microsoft.com/office/drawing/2014/main" id="{A144ED09-DA06-491D-95A8-AB3DED432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5" name="Freeform 22">
              <a:extLst>
                <a:ext uri="{FF2B5EF4-FFF2-40B4-BE49-F238E27FC236}">
                  <a16:creationId xmlns:a16="http://schemas.microsoft.com/office/drawing/2014/main" id="{1CB00BD2-11CD-4A38-8F38-02B0D11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20234FB-542E-4550-9C2F-1B56FD41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68" name="Freeform 27">
              <a:extLst>
                <a:ext uri="{FF2B5EF4-FFF2-40B4-BE49-F238E27FC236}">
                  <a16:creationId xmlns:a16="http://schemas.microsoft.com/office/drawing/2014/main" id="{41FCE1F3-DEB3-47CD-90FF-7DABB4AF4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9" name="Freeform 28">
              <a:extLst>
                <a:ext uri="{FF2B5EF4-FFF2-40B4-BE49-F238E27FC236}">
                  <a16:creationId xmlns:a16="http://schemas.microsoft.com/office/drawing/2014/main" id="{5708E488-C19B-452C-B197-6F1C34F6E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0" name="Freeform 29">
              <a:extLst>
                <a:ext uri="{FF2B5EF4-FFF2-40B4-BE49-F238E27FC236}">
                  <a16:creationId xmlns:a16="http://schemas.microsoft.com/office/drawing/2014/main" id="{89D3FD25-890E-4981-A71D-EE796873D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1" name="Freeform 30">
              <a:extLst>
                <a:ext uri="{FF2B5EF4-FFF2-40B4-BE49-F238E27FC236}">
                  <a16:creationId xmlns:a16="http://schemas.microsoft.com/office/drawing/2014/main" id="{51B5414C-556A-47CB-8EE2-974A85A7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2" name="Freeform 31">
              <a:extLst>
                <a:ext uri="{FF2B5EF4-FFF2-40B4-BE49-F238E27FC236}">
                  <a16:creationId xmlns:a16="http://schemas.microsoft.com/office/drawing/2014/main" id="{1C02B20C-2B27-4B75-8AEE-A5D2E2674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3" name="Freeform 32">
              <a:extLst>
                <a:ext uri="{FF2B5EF4-FFF2-40B4-BE49-F238E27FC236}">
                  <a16:creationId xmlns:a16="http://schemas.microsoft.com/office/drawing/2014/main" id="{54427714-F9AA-4F93-BD1D-400F1EA93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4" name="Freeform 33">
              <a:extLst>
                <a:ext uri="{FF2B5EF4-FFF2-40B4-BE49-F238E27FC236}">
                  <a16:creationId xmlns:a16="http://schemas.microsoft.com/office/drawing/2014/main" id="{28A77D6A-9E81-497F-ABCC-2695BB5AD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5" name="Freeform 34">
              <a:extLst>
                <a:ext uri="{FF2B5EF4-FFF2-40B4-BE49-F238E27FC236}">
                  <a16:creationId xmlns:a16="http://schemas.microsoft.com/office/drawing/2014/main" id="{2A1533BA-1478-4F7C-8E24-3F3E90505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6" name="Freeform 35">
              <a:extLst>
                <a:ext uri="{FF2B5EF4-FFF2-40B4-BE49-F238E27FC236}">
                  <a16:creationId xmlns:a16="http://schemas.microsoft.com/office/drawing/2014/main" id="{39686201-E633-40FD-A80A-1E28AD52E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7" name="Freeform 36">
              <a:extLst>
                <a:ext uri="{FF2B5EF4-FFF2-40B4-BE49-F238E27FC236}">
                  <a16:creationId xmlns:a16="http://schemas.microsoft.com/office/drawing/2014/main" id="{76A215C2-F590-4938-810B-F8A79366C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8" name="Freeform 37">
              <a:extLst>
                <a:ext uri="{FF2B5EF4-FFF2-40B4-BE49-F238E27FC236}">
                  <a16:creationId xmlns:a16="http://schemas.microsoft.com/office/drawing/2014/main" id="{85F418E7-330D-4002-8EC8-33C1A897F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9" name="Freeform 38">
              <a:extLst>
                <a:ext uri="{FF2B5EF4-FFF2-40B4-BE49-F238E27FC236}">
                  <a16:creationId xmlns:a16="http://schemas.microsoft.com/office/drawing/2014/main" id="{8FFE669A-54C9-4436-9566-C5A90F16D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81" name="Rectangle 80">
            <a:extLst>
              <a:ext uri="{FF2B5EF4-FFF2-40B4-BE49-F238E27FC236}">
                <a16:creationId xmlns:a16="http://schemas.microsoft.com/office/drawing/2014/main" id="{DE91395A-2D18-4AF6-A0AC-AAA7189F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3" name="Freeform 11">
            <a:extLst>
              <a:ext uri="{FF2B5EF4-FFF2-40B4-BE49-F238E27FC236}">
                <a16:creationId xmlns:a16="http://schemas.microsoft.com/office/drawing/2014/main" id="{A57352BE-A213-4040-BE8E-D4A925AD9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2EC7880-C5D9-40A8-A6B0-3198AD07A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4619543" cy="6854038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782480-E9A3-C1CA-1BAE-F4E63C7CF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US" sz="3100" b="1"/>
              <a:t>Product Category Distribution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E7AED2-BC23-07ED-695F-2F2A98C9AF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5" y="2133600"/>
            <a:ext cx="3650278" cy="375925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 3" charset="2"/>
              <a:buChar char=""/>
            </a:pPr>
            <a:r>
              <a:rPr lang="en-US" b="1"/>
              <a:t>Insights</a:t>
            </a:r>
            <a:endParaRPr lang="en-US"/>
          </a:p>
          <a:p>
            <a:pPr marL="342900" indent="-342900">
              <a:buFont typeface="Wingdings 3" charset="2"/>
              <a:buChar char=""/>
            </a:pPr>
            <a:r>
              <a:rPr lang="en-US" b="1"/>
              <a:t> </a:t>
            </a:r>
            <a:r>
              <a:rPr lang="en-US"/>
              <a:t>Dresses category has the highest share, showing slightly higher customer demand. </a:t>
            </a:r>
          </a:p>
          <a:p>
            <a:pPr marL="342900" lvl="0" indent="-342900">
              <a:buFont typeface="Wingdings 3" charset="2"/>
              <a:buChar char=""/>
            </a:pPr>
            <a:r>
              <a:rPr lang="en-US"/>
              <a:t>T-Shirts, Shoes, Jeans, Jackets, and Accessories have nearly equal distribution. </a:t>
            </a:r>
          </a:p>
          <a:p>
            <a:pPr marL="342900" lvl="0" indent="-342900">
              <a:buFont typeface="Wingdings 3" charset="2"/>
              <a:buChar char=""/>
            </a:pPr>
            <a:r>
              <a:rPr lang="en-US"/>
              <a:t>Product demand is balanced across all categories. </a:t>
            </a:r>
          </a:p>
          <a:p>
            <a:pPr marL="342900" lvl="0" indent="-342900">
              <a:buFont typeface="Wingdings 3" charset="2"/>
              <a:buChar char=""/>
            </a:pPr>
            <a:r>
              <a:rPr lang="en-US"/>
              <a:t>No single category dominates overall sales significantly. </a:t>
            </a:r>
          </a:p>
          <a:p>
            <a:pPr marL="342900" lvl="0" indent="-342900">
              <a:buFont typeface="Wingdings 3" charset="2"/>
              <a:buChar char=""/>
            </a:pPr>
            <a:r>
              <a:rPr lang="en-US"/>
              <a:t>The business has a diversified product portfolio, reducing dependency on one category.</a:t>
            </a:r>
          </a:p>
          <a:p>
            <a:pPr>
              <a:buFont typeface="Wingdings 3" charset="2"/>
              <a:buChar char=""/>
            </a:pP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EDE9C7-31F4-1B3A-2506-7E4A28C6BF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481" r="19606" b="-1"/>
          <a:stretch>
            <a:fillRect/>
          </a:stretch>
        </p:blipFill>
        <p:spPr>
          <a:xfrm>
            <a:off x="4619543" y="10"/>
            <a:ext cx="757245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6228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7398C59F-5A18-487B-91D6-B955AACF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54" name="Freeform 11">
              <a:extLst>
                <a:ext uri="{FF2B5EF4-FFF2-40B4-BE49-F238E27FC236}">
                  <a16:creationId xmlns:a16="http://schemas.microsoft.com/office/drawing/2014/main" id="{0557FAFE-C7C3-47EC-A4F5-9B2166319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5" name="Freeform 12">
              <a:extLst>
                <a:ext uri="{FF2B5EF4-FFF2-40B4-BE49-F238E27FC236}">
                  <a16:creationId xmlns:a16="http://schemas.microsoft.com/office/drawing/2014/main" id="{95BC28FB-3882-4674-9D79-EA58BEB7C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6" name="Freeform 13">
              <a:extLst>
                <a:ext uri="{FF2B5EF4-FFF2-40B4-BE49-F238E27FC236}">
                  <a16:creationId xmlns:a16="http://schemas.microsoft.com/office/drawing/2014/main" id="{9C6EC892-83F9-402F-8552-0AD7C055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7" name="Freeform 14">
              <a:extLst>
                <a:ext uri="{FF2B5EF4-FFF2-40B4-BE49-F238E27FC236}">
                  <a16:creationId xmlns:a16="http://schemas.microsoft.com/office/drawing/2014/main" id="{18387766-037C-4EF0-8471-D19CBF2A4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8" name="Freeform 15">
              <a:extLst>
                <a:ext uri="{FF2B5EF4-FFF2-40B4-BE49-F238E27FC236}">
                  <a16:creationId xmlns:a16="http://schemas.microsoft.com/office/drawing/2014/main" id="{1E364F38-6F3A-476A-93E6-962EA817C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9" name="Freeform 16">
              <a:extLst>
                <a:ext uri="{FF2B5EF4-FFF2-40B4-BE49-F238E27FC236}">
                  <a16:creationId xmlns:a16="http://schemas.microsoft.com/office/drawing/2014/main" id="{35C335A4-1E67-4293-8BE2-DFB085D4F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0" name="Freeform 17">
              <a:extLst>
                <a:ext uri="{FF2B5EF4-FFF2-40B4-BE49-F238E27FC236}">
                  <a16:creationId xmlns:a16="http://schemas.microsoft.com/office/drawing/2014/main" id="{9A8A0F10-2C98-4297-9F92-5D9553392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1" name="Freeform 18">
              <a:extLst>
                <a:ext uri="{FF2B5EF4-FFF2-40B4-BE49-F238E27FC236}">
                  <a16:creationId xmlns:a16="http://schemas.microsoft.com/office/drawing/2014/main" id="{C3B112A3-006E-4008-A778-DB5F6A09D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2" name="Freeform 19">
              <a:extLst>
                <a:ext uri="{FF2B5EF4-FFF2-40B4-BE49-F238E27FC236}">
                  <a16:creationId xmlns:a16="http://schemas.microsoft.com/office/drawing/2014/main" id="{E5E62767-5C25-4C49-9568-432433A3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3" name="Freeform 20">
              <a:extLst>
                <a:ext uri="{FF2B5EF4-FFF2-40B4-BE49-F238E27FC236}">
                  <a16:creationId xmlns:a16="http://schemas.microsoft.com/office/drawing/2014/main" id="{598EC006-77B1-42BA-B815-66CCB9B17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4" name="Freeform 21">
              <a:extLst>
                <a:ext uri="{FF2B5EF4-FFF2-40B4-BE49-F238E27FC236}">
                  <a16:creationId xmlns:a16="http://schemas.microsoft.com/office/drawing/2014/main" id="{A144ED09-DA06-491D-95A8-AB3DED432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5" name="Freeform 22">
              <a:extLst>
                <a:ext uri="{FF2B5EF4-FFF2-40B4-BE49-F238E27FC236}">
                  <a16:creationId xmlns:a16="http://schemas.microsoft.com/office/drawing/2014/main" id="{1CB00BD2-11CD-4A38-8F38-02B0D11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20234FB-542E-4550-9C2F-1B56FD41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68" name="Freeform 27">
              <a:extLst>
                <a:ext uri="{FF2B5EF4-FFF2-40B4-BE49-F238E27FC236}">
                  <a16:creationId xmlns:a16="http://schemas.microsoft.com/office/drawing/2014/main" id="{41FCE1F3-DEB3-47CD-90FF-7DABB4AF4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9" name="Freeform 28">
              <a:extLst>
                <a:ext uri="{FF2B5EF4-FFF2-40B4-BE49-F238E27FC236}">
                  <a16:creationId xmlns:a16="http://schemas.microsoft.com/office/drawing/2014/main" id="{5708E488-C19B-452C-B197-6F1C34F6E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0" name="Freeform 29">
              <a:extLst>
                <a:ext uri="{FF2B5EF4-FFF2-40B4-BE49-F238E27FC236}">
                  <a16:creationId xmlns:a16="http://schemas.microsoft.com/office/drawing/2014/main" id="{89D3FD25-890E-4981-A71D-EE796873D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1" name="Freeform 30">
              <a:extLst>
                <a:ext uri="{FF2B5EF4-FFF2-40B4-BE49-F238E27FC236}">
                  <a16:creationId xmlns:a16="http://schemas.microsoft.com/office/drawing/2014/main" id="{51B5414C-556A-47CB-8EE2-974A85A7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2" name="Freeform 31">
              <a:extLst>
                <a:ext uri="{FF2B5EF4-FFF2-40B4-BE49-F238E27FC236}">
                  <a16:creationId xmlns:a16="http://schemas.microsoft.com/office/drawing/2014/main" id="{1C02B20C-2B27-4B75-8AEE-A5D2E2674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3" name="Freeform 32">
              <a:extLst>
                <a:ext uri="{FF2B5EF4-FFF2-40B4-BE49-F238E27FC236}">
                  <a16:creationId xmlns:a16="http://schemas.microsoft.com/office/drawing/2014/main" id="{54427714-F9AA-4F93-BD1D-400F1EA93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4" name="Freeform 33">
              <a:extLst>
                <a:ext uri="{FF2B5EF4-FFF2-40B4-BE49-F238E27FC236}">
                  <a16:creationId xmlns:a16="http://schemas.microsoft.com/office/drawing/2014/main" id="{28A77D6A-9E81-497F-ABCC-2695BB5AD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5" name="Freeform 34">
              <a:extLst>
                <a:ext uri="{FF2B5EF4-FFF2-40B4-BE49-F238E27FC236}">
                  <a16:creationId xmlns:a16="http://schemas.microsoft.com/office/drawing/2014/main" id="{2A1533BA-1478-4F7C-8E24-3F3E90505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6" name="Freeform 35">
              <a:extLst>
                <a:ext uri="{FF2B5EF4-FFF2-40B4-BE49-F238E27FC236}">
                  <a16:creationId xmlns:a16="http://schemas.microsoft.com/office/drawing/2014/main" id="{39686201-E633-40FD-A80A-1E28AD52E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7" name="Freeform 36">
              <a:extLst>
                <a:ext uri="{FF2B5EF4-FFF2-40B4-BE49-F238E27FC236}">
                  <a16:creationId xmlns:a16="http://schemas.microsoft.com/office/drawing/2014/main" id="{76A215C2-F590-4938-810B-F8A79366C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8" name="Freeform 37">
              <a:extLst>
                <a:ext uri="{FF2B5EF4-FFF2-40B4-BE49-F238E27FC236}">
                  <a16:creationId xmlns:a16="http://schemas.microsoft.com/office/drawing/2014/main" id="{85F418E7-330D-4002-8EC8-33C1A897F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9" name="Freeform 38">
              <a:extLst>
                <a:ext uri="{FF2B5EF4-FFF2-40B4-BE49-F238E27FC236}">
                  <a16:creationId xmlns:a16="http://schemas.microsoft.com/office/drawing/2014/main" id="{8FFE669A-54C9-4436-9566-C5A90F16D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81" name="Rectangle 80">
            <a:extLst>
              <a:ext uri="{FF2B5EF4-FFF2-40B4-BE49-F238E27FC236}">
                <a16:creationId xmlns:a16="http://schemas.microsoft.com/office/drawing/2014/main" id="{DE91395A-2D18-4AF6-A0AC-AAA7189F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3" name="Freeform 11">
            <a:extLst>
              <a:ext uri="{FF2B5EF4-FFF2-40B4-BE49-F238E27FC236}">
                <a16:creationId xmlns:a16="http://schemas.microsoft.com/office/drawing/2014/main" id="{A57352BE-A213-4040-BE8E-D4A925AD9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2EC7880-C5D9-40A8-A6B0-3198AD07A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4619543" cy="6854038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E9C043-594C-F72D-7E9B-78C7800C1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/>
              <a:t>Average Discount By Product Category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C338F6-C18F-D8E5-0263-1692500FF7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5" y="2133600"/>
            <a:ext cx="3650278" cy="375925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 3" charset="2"/>
              <a:buChar char=""/>
            </a:pPr>
            <a:r>
              <a:rPr lang="en-US" b="1" dirty="0"/>
              <a:t>Insights</a:t>
            </a:r>
            <a:endParaRPr lang="en-US" dirty="0"/>
          </a:p>
          <a:p>
            <a:pPr marL="342900" lvl="0" indent="-342900">
              <a:buFont typeface="Wingdings 3" charset="2"/>
              <a:buChar char=""/>
            </a:pPr>
            <a:r>
              <a:rPr lang="en-US" dirty="0"/>
              <a:t>Discount percentages are almost equal across all product categories. </a:t>
            </a:r>
          </a:p>
          <a:p>
            <a:pPr marL="342900" lvl="0" indent="-342900">
              <a:buFont typeface="Wingdings 3" charset="2"/>
              <a:buChar char=""/>
            </a:pPr>
            <a:r>
              <a:rPr lang="en-US" dirty="0"/>
              <a:t>Accessories, Jackets, Shoes, and T-Shirts have slightly higher average discounts. </a:t>
            </a:r>
          </a:p>
          <a:p>
            <a:pPr marL="342900" lvl="0" indent="-342900">
              <a:buFont typeface="Wingdings 3" charset="2"/>
              <a:buChar char=""/>
            </a:pPr>
            <a:r>
              <a:rPr lang="en-US" dirty="0"/>
              <a:t>Jeans category has the lowest average discount compared to others. </a:t>
            </a:r>
          </a:p>
          <a:p>
            <a:pPr marL="342900" lvl="0" indent="-342900">
              <a:buFont typeface="Wingdings 3" charset="2"/>
              <a:buChar char=""/>
            </a:pPr>
            <a:r>
              <a:rPr lang="en-US" dirty="0"/>
              <a:t>No major variation is seen in discount strategy across categories. </a:t>
            </a:r>
          </a:p>
          <a:p>
            <a:pPr marL="342900" lvl="0" indent="-342900">
              <a:buFont typeface="Wingdings 3" charset="2"/>
              <a:buChar char=""/>
            </a:pPr>
            <a:r>
              <a:rPr lang="en-US" dirty="0"/>
              <a:t>The business follows a consistent discount policy for all product categories. </a:t>
            </a:r>
          </a:p>
          <a:p>
            <a:pPr>
              <a:buFont typeface="Wingdings 3" charset="2"/>
              <a:buChar char=""/>
            </a:pPr>
            <a:endParaRPr lang="en-US" dirty="0"/>
          </a:p>
          <a:p>
            <a:pPr>
              <a:buFont typeface="Wingdings 3" charset="2"/>
              <a:buChar char=""/>
            </a:pP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6085B6A-FAE0-6C1E-1DB8-7D354A4DB3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902" y="4749"/>
            <a:ext cx="7694098" cy="675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8506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roup 69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71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2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3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4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5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6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7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8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9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0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1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2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85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6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7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8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9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0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1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2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3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4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5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6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98" name="Rectangle 97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0" name="Freeform 11">
            <a:extLst>
              <a:ext uri="{FF2B5EF4-FFF2-40B4-BE49-F238E27FC236}">
                <a16:creationId xmlns:a16="http://schemas.microsoft.com/office/drawing/2014/main" id="{7326F4E6-9131-42DA-97B2-0BA8D1E25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763516C8-F227-4B77-9AA7-61B9A0B78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7FE062F-86C2-9006-3CBC-6A1AC6491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4655" y="646148"/>
            <a:ext cx="4092173" cy="13243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b="1"/>
              <a:t>Interactive Dashboard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D91B420C-C4C8-44DF-96B2-FBD101464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424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D721F81-66CA-C174-62CE-F246EEA56A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32950" y="2255492"/>
            <a:ext cx="4093878" cy="352174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 3" charset="2"/>
              <a:buChar char=""/>
            </a:pPr>
            <a:r>
              <a:rPr lang="en-US"/>
              <a:t>An interactive dashboard was created to monitor business performance by analyzing sales, profit, discount, product categories, and order trends. It helps stakeholders make data-driven decisions.</a:t>
            </a:r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DAF21CEC-F526-6DFA-4AD7-DA61E235FD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16" y="960829"/>
            <a:ext cx="6416468" cy="419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0459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398C59F-5A18-487B-91D6-B955AACF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05" name="Freeform 11">
              <a:extLst>
                <a:ext uri="{FF2B5EF4-FFF2-40B4-BE49-F238E27FC236}">
                  <a16:creationId xmlns:a16="http://schemas.microsoft.com/office/drawing/2014/main" id="{0557FAFE-C7C3-47EC-A4F5-9B2166319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6" name="Freeform 12">
              <a:extLst>
                <a:ext uri="{FF2B5EF4-FFF2-40B4-BE49-F238E27FC236}">
                  <a16:creationId xmlns:a16="http://schemas.microsoft.com/office/drawing/2014/main" id="{95BC28FB-3882-4674-9D79-EA58BEB7C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7" name="Freeform 13">
              <a:extLst>
                <a:ext uri="{FF2B5EF4-FFF2-40B4-BE49-F238E27FC236}">
                  <a16:creationId xmlns:a16="http://schemas.microsoft.com/office/drawing/2014/main" id="{9C6EC892-83F9-402F-8552-0AD7C055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8" name="Freeform 14">
              <a:extLst>
                <a:ext uri="{FF2B5EF4-FFF2-40B4-BE49-F238E27FC236}">
                  <a16:creationId xmlns:a16="http://schemas.microsoft.com/office/drawing/2014/main" id="{18387766-037C-4EF0-8471-D19CBF2A4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9" name="Freeform 15">
              <a:extLst>
                <a:ext uri="{FF2B5EF4-FFF2-40B4-BE49-F238E27FC236}">
                  <a16:creationId xmlns:a16="http://schemas.microsoft.com/office/drawing/2014/main" id="{1E364F38-6F3A-476A-93E6-962EA817C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10" name="Freeform 16">
              <a:extLst>
                <a:ext uri="{FF2B5EF4-FFF2-40B4-BE49-F238E27FC236}">
                  <a16:creationId xmlns:a16="http://schemas.microsoft.com/office/drawing/2014/main" id="{35C335A4-1E67-4293-8BE2-DFB085D4F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11" name="Freeform 17">
              <a:extLst>
                <a:ext uri="{FF2B5EF4-FFF2-40B4-BE49-F238E27FC236}">
                  <a16:creationId xmlns:a16="http://schemas.microsoft.com/office/drawing/2014/main" id="{9A8A0F10-2C98-4297-9F92-5D9553392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12" name="Freeform 18">
              <a:extLst>
                <a:ext uri="{FF2B5EF4-FFF2-40B4-BE49-F238E27FC236}">
                  <a16:creationId xmlns:a16="http://schemas.microsoft.com/office/drawing/2014/main" id="{C3B112A3-006E-4008-A778-DB5F6A09D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13" name="Freeform 19">
              <a:extLst>
                <a:ext uri="{FF2B5EF4-FFF2-40B4-BE49-F238E27FC236}">
                  <a16:creationId xmlns:a16="http://schemas.microsoft.com/office/drawing/2014/main" id="{E5E62767-5C25-4C49-9568-432433A3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14" name="Freeform 20">
              <a:extLst>
                <a:ext uri="{FF2B5EF4-FFF2-40B4-BE49-F238E27FC236}">
                  <a16:creationId xmlns:a16="http://schemas.microsoft.com/office/drawing/2014/main" id="{598EC006-77B1-42BA-B815-66CCB9B17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15" name="Freeform 21">
              <a:extLst>
                <a:ext uri="{FF2B5EF4-FFF2-40B4-BE49-F238E27FC236}">
                  <a16:creationId xmlns:a16="http://schemas.microsoft.com/office/drawing/2014/main" id="{A144ED09-DA06-491D-95A8-AB3DED432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16" name="Freeform 22">
              <a:extLst>
                <a:ext uri="{FF2B5EF4-FFF2-40B4-BE49-F238E27FC236}">
                  <a16:creationId xmlns:a16="http://schemas.microsoft.com/office/drawing/2014/main" id="{1CB00BD2-11CD-4A38-8F38-02B0D11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520234FB-542E-4550-9C2F-1B56FD41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119" name="Freeform 27">
              <a:extLst>
                <a:ext uri="{FF2B5EF4-FFF2-40B4-BE49-F238E27FC236}">
                  <a16:creationId xmlns:a16="http://schemas.microsoft.com/office/drawing/2014/main" id="{41FCE1F3-DEB3-47CD-90FF-7DABB4AF4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0" name="Freeform 28">
              <a:extLst>
                <a:ext uri="{FF2B5EF4-FFF2-40B4-BE49-F238E27FC236}">
                  <a16:creationId xmlns:a16="http://schemas.microsoft.com/office/drawing/2014/main" id="{5708E488-C19B-452C-B197-6F1C34F6E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1" name="Freeform 29">
              <a:extLst>
                <a:ext uri="{FF2B5EF4-FFF2-40B4-BE49-F238E27FC236}">
                  <a16:creationId xmlns:a16="http://schemas.microsoft.com/office/drawing/2014/main" id="{89D3FD25-890E-4981-A71D-EE796873D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2" name="Freeform 30">
              <a:extLst>
                <a:ext uri="{FF2B5EF4-FFF2-40B4-BE49-F238E27FC236}">
                  <a16:creationId xmlns:a16="http://schemas.microsoft.com/office/drawing/2014/main" id="{51B5414C-556A-47CB-8EE2-974A85A7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3" name="Freeform 31">
              <a:extLst>
                <a:ext uri="{FF2B5EF4-FFF2-40B4-BE49-F238E27FC236}">
                  <a16:creationId xmlns:a16="http://schemas.microsoft.com/office/drawing/2014/main" id="{1C02B20C-2B27-4B75-8AEE-A5D2E2674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4" name="Freeform 32">
              <a:extLst>
                <a:ext uri="{FF2B5EF4-FFF2-40B4-BE49-F238E27FC236}">
                  <a16:creationId xmlns:a16="http://schemas.microsoft.com/office/drawing/2014/main" id="{54427714-F9AA-4F93-BD1D-400F1EA93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5" name="Freeform 33">
              <a:extLst>
                <a:ext uri="{FF2B5EF4-FFF2-40B4-BE49-F238E27FC236}">
                  <a16:creationId xmlns:a16="http://schemas.microsoft.com/office/drawing/2014/main" id="{28A77D6A-9E81-497F-ABCC-2695BB5AD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6" name="Freeform 34">
              <a:extLst>
                <a:ext uri="{FF2B5EF4-FFF2-40B4-BE49-F238E27FC236}">
                  <a16:creationId xmlns:a16="http://schemas.microsoft.com/office/drawing/2014/main" id="{2A1533BA-1478-4F7C-8E24-3F3E90505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7" name="Freeform 35">
              <a:extLst>
                <a:ext uri="{FF2B5EF4-FFF2-40B4-BE49-F238E27FC236}">
                  <a16:creationId xmlns:a16="http://schemas.microsoft.com/office/drawing/2014/main" id="{39686201-E633-40FD-A80A-1E28AD52E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8" name="Freeform 36">
              <a:extLst>
                <a:ext uri="{FF2B5EF4-FFF2-40B4-BE49-F238E27FC236}">
                  <a16:creationId xmlns:a16="http://schemas.microsoft.com/office/drawing/2014/main" id="{76A215C2-F590-4938-810B-F8A79366C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9" name="Freeform 37">
              <a:extLst>
                <a:ext uri="{FF2B5EF4-FFF2-40B4-BE49-F238E27FC236}">
                  <a16:creationId xmlns:a16="http://schemas.microsoft.com/office/drawing/2014/main" id="{85F418E7-330D-4002-8EC8-33C1A897F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0" name="Freeform 38">
              <a:extLst>
                <a:ext uri="{FF2B5EF4-FFF2-40B4-BE49-F238E27FC236}">
                  <a16:creationId xmlns:a16="http://schemas.microsoft.com/office/drawing/2014/main" id="{8FFE669A-54C9-4436-9566-C5A90F16D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132" name="Rectangle 131">
            <a:extLst>
              <a:ext uri="{FF2B5EF4-FFF2-40B4-BE49-F238E27FC236}">
                <a16:creationId xmlns:a16="http://schemas.microsoft.com/office/drawing/2014/main" id="{DE91395A-2D18-4AF6-A0AC-AAA7189F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4" name="Freeform 11">
            <a:extLst>
              <a:ext uri="{FF2B5EF4-FFF2-40B4-BE49-F238E27FC236}">
                <a16:creationId xmlns:a16="http://schemas.microsoft.com/office/drawing/2014/main" id="{A57352BE-A213-4040-BE8E-D4A925AD9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B2EC7880-C5D9-40A8-A6B0-3198AD07A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4619543" cy="6854038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7CF7F8-C4F5-12A0-92C9-2E7ABD4EB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b="1"/>
              <a:t>KPI Cards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24B97F-BA40-D568-91AA-B49DE87270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5" y="2133600"/>
            <a:ext cx="3650278" cy="375925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 3" charset="2"/>
              <a:buChar char=""/>
            </a:pPr>
            <a:r>
              <a:rPr lang="en-US" b="1"/>
              <a:t>Components:</a:t>
            </a:r>
          </a:p>
          <a:p>
            <a:pPr>
              <a:buFont typeface="Wingdings 3" charset="2"/>
              <a:buChar char=""/>
            </a:pPr>
            <a:r>
              <a:rPr lang="en-US" b="1"/>
              <a:t>Total Profit = 2.45M</a:t>
            </a:r>
            <a:r>
              <a:rPr lang="en-US"/>
              <a:t> → Overall profit generated by business. </a:t>
            </a:r>
          </a:p>
          <a:p>
            <a:pPr>
              <a:buFont typeface="Wingdings 3" charset="2"/>
              <a:buChar char=""/>
            </a:pPr>
            <a:r>
              <a:rPr lang="en-US" b="1"/>
              <a:t>Average Discount = 0.42</a:t>
            </a:r>
            <a:r>
              <a:rPr lang="en-US"/>
              <a:t> → Average discount provided on products. </a:t>
            </a:r>
          </a:p>
          <a:p>
            <a:pPr>
              <a:buFont typeface="Wingdings 3" charset="2"/>
              <a:buChar char=""/>
            </a:pPr>
            <a:r>
              <a:rPr lang="en-US" b="1"/>
              <a:t>Minimum Profit = -992.61</a:t>
            </a:r>
            <a:r>
              <a:rPr lang="en-US"/>
              <a:t> → Lowest profit/loss transaction recorded. </a:t>
            </a:r>
          </a:p>
          <a:p>
            <a:pPr>
              <a:buFont typeface="Wingdings 3" charset="2"/>
              <a:buChar char=""/>
            </a:pPr>
            <a:r>
              <a:rPr lang="en-US" b="1"/>
              <a:t>Total Units Sold = 11K</a:t>
            </a:r>
            <a:r>
              <a:rPr lang="en-US"/>
              <a:t> → Total quantity of products sold. </a:t>
            </a:r>
          </a:p>
          <a:p>
            <a:pPr>
              <a:buFont typeface="Wingdings 3" charset="2"/>
              <a:buChar char=""/>
            </a:pPr>
            <a:r>
              <a:rPr lang="en-US" b="1"/>
              <a:t>Business Insight</a:t>
            </a:r>
            <a:endParaRPr lang="en-US"/>
          </a:p>
          <a:p>
            <a:pPr>
              <a:buFont typeface="Wingdings 3" charset="2"/>
              <a:buChar char=""/>
            </a:pPr>
            <a:r>
              <a:rPr lang="en-US"/>
              <a:t>Business generated strong overall profit with high sales volume.</a:t>
            </a:r>
          </a:p>
          <a:p>
            <a:pPr>
              <a:buFont typeface="Wingdings 3" charset="2"/>
              <a:buChar char=""/>
            </a:pPr>
            <a:endParaRPr lang="en-US"/>
          </a:p>
        </p:txBody>
      </p:sp>
      <p:pic>
        <p:nvPicPr>
          <p:cNvPr id="46" name="Content Placeholder 45">
            <a:extLst>
              <a:ext uri="{FF2B5EF4-FFF2-40B4-BE49-F238E27FC236}">
                <a16:creationId xmlns:a16="http://schemas.microsoft.com/office/drawing/2014/main" id="{91C564E8-1B20-AB2B-D511-54D24967E9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2971" y="-786"/>
            <a:ext cx="7499020" cy="713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8492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7398C59F-5A18-487B-91D6-B955AACF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64" name="Freeform 11">
              <a:extLst>
                <a:ext uri="{FF2B5EF4-FFF2-40B4-BE49-F238E27FC236}">
                  <a16:creationId xmlns:a16="http://schemas.microsoft.com/office/drawing/2014/main" id="{0557FAFE-C7C3-47EC-A4F5-9B2166319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5" name="Freeform 12">
              <a:extLst>
                <a:ext uri="{FF2B5EF4-FFF2-40B4-BE49-F238E27FC236}">
                  <a16:creationId xmlns:a16="http://schemas.microsoft.com/office/drawing/2014/main" id="{95BC28FB-3882-4674-9D79-EA58BEB7C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6" name="Freeform 13">
              <a:extLst>
                <a:ext uri="{FF2B5EF4-FFF2-40B4-BE49-F238E27FC236}">
                  <a16:creationId xmlns:a16="http://schemas.microsoft.com/office/drawing/2014/main" id="{9C6EC892-83F9-402F-8552-0AD7C055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7" name="Freeform 14">
              <a:extLst>
                <a:ext uri="{FF2B5EF4-FFF2-40B4-BE49-F238E27FC236}">
                  <a16:creationId xmlns:a16="http://schemas.microsoft.com/office/drawing/2014/main" id="{18387766-037C-4EF0-8471-D19CBF2A4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8" name="Freeform 15">
              <a:extLst>
                <a:ext uri="{FF2B5EF4-FFF2-40B4-BE49-F238E27FC236}">
                  <a16:creationId xmlns:a16="http://schemas.microsoft.com/office/drawing/2014/main" id="{1E364F38-6F3A-476A-93E6-962EA817C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9" name="Freeform 16">
              <a:extLst>
                <a:ext uri="{FF2B5EF4-FFF2-40B4-BE49-F238E27FC236}">
                  <a16:creationId xmlns:a16="http://schemas.microsoft.com/office/drawing/2014/main" id="{35C335A4-1E67-4293-8BE2-DFB085D4F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0" name="Freeform 17">
              <a:extLst>
                <a:ext uri="{FF2B5EF4-FFF2-40B4-BE49-F238E27FC236}">
                  <a16:creationId xmlns:a16="http://schemas.microsoft.com/office/drawing/2014/main" id="{9A8A0F10-2C98-4297-9F92-5D9553392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1" name="Freeform 18">
              <a:extLst>
                <a:ext uri="{FF2B5EF4-FFF2-40B4-BE49-F238E27FC236}">
                  <a16:creationId xmlns:a16="http://schemas.microsoft.com/office/drawing/2014/main" id="{C3B112A3-006E-4008-A778-DB5F6A09D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2" name="Freeform 19">
              <a:extLst>
                <a:ext uri="{FF2B5EF4-FFF2-40B4-BE49-F238E27FC236}">
                  <a16:creationId xmlns:a16="http://schemas.microsoft.com/office/drawing/2014/main" id="{E5E62767-5C25-4C49-9568-432433A3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3" name="Freeform 20">
              <a:extLst>
                <a:ext uri="{FF2B5EF4-FFF2-40B4-BE49-F238E27FC236}">
                  <a16:creationId xmlns:a16="http://schemas.microsoft.com/office/drawing/2014/main" id="{598EC006-77B1-42BA-B815-66CCB9B17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4" name="Freeform 21">
              <a:extLst>
                <a:ext uri="{FF2B5EF4-FFF2-40B4-BE49-F238E27FC236}">
                  <a16:creationId xmlns:a16="http://schemas.microsoft.com/office/drawing/2014/main" id="{A144ED09-DA06-491D-95A8-AB3DED432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5" name="Freeform 22">
              <a:extLst>
                <a:ext uri="{FF2B5EF4-FFF2-40B4-BE49-F238E27FC236}">
                  <a16:creationId xmlns:a16="http://schemas.microsoft.com/office/drawing/2014/main" id="{1CB00BD2-11CD-4A38-8F38-02B0D11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20234FB-542E-4550-9C2F-1B56FD41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78" name="Freeform 27">
              <a:extLst>
                <a:ext uri="{FF2B5EF4-FFF2-40B4-BE49-F238E27FC236}">
                  <a16:creationId xmlns:a16="http://schemas.microsoft.com/office/drawing/2014/main" id="{41FCE1F3-DEB3-47CD-90FF-7DABB4AF4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9" name="Freeform 28">
              <a:extLst>
                <a:ext uri="{FF2B5EF4-FFF2-40B4-BE49-F238E27FC236}">
                  <a16:creationId xmlns:a16="http://schemas.microsoft.com/office/drawing/2014/main" id="{5708E488-C19B-452C-B197-6F1C34F6E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0" name="Freeform 29">
              <a:extLst>
                <a:ext uri="{FF2B5EF4-FFF2-40B4-BE49-F238E27FC236}">
                  <a16:creationId xmlns:a16="http://schemas.microsoft.com/office/drawing/2014/main" id="{89D3FD25-890E-4981-A71D-EE796873D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1" name="Freeform 30">
              <a:extLst>
                <a:ext uri="{FF2B5EF4-FFF2-40B4-BE49-F238E27FC236}">
                  <a16:creationId xmlns:a16="http://schemas.microsoft.com/office/drawing/2014/main" id="{51B5414C-556A-47CB-8EE2-974A85A7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2" name="Freeform 31">
              <a:extLst>
                <a:ext uri="{FF2B5EF4-FFF2-40B4-BE49-F238E27FC236}">
                  <a16:creationId xmlns:a16="http://schemas.microsoft.com/office/drawing/2014/main" id="{1C02B20C-2B27-4B75-8AEE-A5D2E2674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3" name="Freeform 32">
              <a:extLst>
                <a:ext uri="{FF2B5EF4-FFF2-40B4-BE49-F238E27FC236}">
                  <a16:creationId xmlns:a16="http://schemas.microsoft.com/office/drawing/2014/main" id="{54427714-F9AA-4F93-BD1D-400F1EA93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4" name="Freeform 33">
              <a:extLst>
                <a:ext uri="{FF2B5EF4-FFF2-40B4-BE49-F238E27FC236}">
                  <a16:creationId xmlns:a16="http://schemas.microsoft.com/office/drawing/2014/main" id="{28A77D6A-9E81-497F-ABCC-2695BB5AD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5" name="Freeform 34">
              <a:extLst>
                <a:ext uri="{FF2B5EF4-FFF2-40B4-BE49-F238E27FC236}">
                  <a16:creationId xmlns:a16="http://schemas.microsoft.com/office/drawing/2014/main" id="{2A1533BA-1478-4F7C-8E24-3F3E90505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6" name="Freeform 35">
              <a:extLst>
                <a:ext uri="{FF2B5EF4-FFF2-40B4-BE49-F238E27FC236}">
                  <a16:creationId xmlns:a16="http://schemas.microsoft.com/office/drawing/2014/main" id="{39686201-E633-40FD-A80A-1E28AD52E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7" name="Freeform 36">
              <a:extLst>
                <a:ext uri="{FF2B5EF4-FFF2-40B4-BE49-F238E27FC236}">
                  <a16:creationId xmlns:a16="http://schemas.microsoft.com/office/drawing/2014/main" id="{76A215C2-F590-4938-810B-F8A79366C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8" name="Freeform 37">
              <a:extLst>
                <a:ext uri="{FF2B5EF4-FFF2-40B4-BE49-F238E27FC236}">
                  <a16:creationId xmlns:a16="http://schemas.microsoft.com/office/drawing/2014/main" id="{85F418E7-330D-4002-8EC8-33C1A897F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9" name="Freeform 38">
              <a:extLst>
                <a:ext uri="{FF2B5EF4-FFF2-40B4-BE49-F238E27FC236}">
                  <a16:creationId xmlns:a16="http://schemas.microsoft.com/office/drawing/2014/main" id="{8FFE669A-54C9-4436-9566-C5A90F16D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91" name="Rectangle 90">
            <a:extLst>
              <a:ext uri="{FF2B5EF4-FFF2-40B4-BE49-F238E27FC236}">
                <a16:creationId xmlns:a16="http://schemas.microsoft.com/office/drawing/2014/main" id="{DE91395A-2D18-4AF6-A0AC-AAA7189F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3" name="Freeform 11">
            <a:extLst>
              <a:ext uri="{FF2B5EF4-FFF2-40B4-BE49-F238E27FC236}">
                <a16:creationId xmlns:a16="http://schemas.microsoft.com/office/drawing/2014/main" id="{A57352BE-A213-4040-BE8E-D4A925AD9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B2EC7880-C5D9-40A8-A6B0-3198AD07A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4619543" cy="6854038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A38A19-CAA8-54A6-2FA7-290A53E1C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b="1"/>
              <a:t>Order Type Distribution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66A5BF-43F3-2CC2-AFD5-126D3F6AA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5" y="2133600"/>
            <a:ext cx="3650278" cy="3759253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Wingdings 3" charset="2"/>
              <a:buChar char=""/>
            </a:pPr>
            <a:r>
              <a:rPr lang="en-US"/>
              <a:t>Bulk orders contribute the highest percentage of units sold.</a:t>
            </a:r>
          </a:p>
          <a:p>
            <a:pPr marL="285750" indent="-285750">
              <a:buFont typeface="Wingdings 3" charset="2"/>
              <a:buChar char=""/>
            </a:pPr>
            <a:r>
              <a:rPr lang="en-US"/>
              <a:t> Small orders represent a smaller share of sales. </a:t>
            </a:r>
          </a:p>
          <a:p>
            <a:pPr marL="285750" indent="-285750">
              <a:buFont typeface="Wingdings 3" charset="2"/>
              <a:buChar char=""/>
            </a:pPr>
            <a:r>
              <a:rPr lang="en-US"/>
              <a:t>Bulk customers significantly drive revenue generation.</a:t>
            </a: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FC9F3281-7B45-E42C-4963-9CBCF6A277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702" y="-786"/>
            <a:ext cx="7526073" cy="707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9813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>
            <a:extLst>
              <a:ext uri="{FF2B5EF4-FFF2-40B4-BE49-F238E27FC236}">
                <a16:creationId xmlns:a16="http://schemas.microsoft.com/office/drawing/2014/main" id="{7398C59F-5A18-487B-91D6-B955AACF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63" name="Freeform 11">
              <a:extLst>
                <a:ext uri="{FF2B5EF4-FFF2-40B4-BE49-F238E27FC236}">
                  <a16:creationId xmlns:a16="http://schemas.microsoft.com/office/drawing/2014/main" id="{0557FAFE-C7C3-47EC-A4F5-9B2166319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4" name="Freeform 12">
              <a:extLst>
                <a:ext uri="{FF2B5EF4-FFF2-40B4-BE49-F238E27FC236}">
                  <a16:creationId xmlns:a16="http://schemas.microsoft.com/office/drawing/2014/main" id="{95BC28FB-3882-4674-9D79-EA58BEB7C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5" name="Freeform 13">
              <a:extLst>
                <a:ext uri="{FF2B5EF4-FFF2-40B4-BE49-F238E27FC236}">
                  <a16:creationId xmlns:a16="http://schemas.microsoft.com/office/drawing/2014/main" id="{9C6EC892-83F9-402F-8552-0AD7C055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6" name="Freeform 14">
              <a:extLst>
                <a:ext uri="{FF2B5EF4-FFF2-40B4-BE49-F238E27FC236}">
                  <a16:creationId xmlns:a16="http://schemas.microsoft.com/office/drawing/2014/main" id="{18387766-037C-4EF0-8471-D19CBF2A4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7" name="Freeform 15">
              <a:extLst>
                <a:ext uri="{FF2B5EF4-FFF2-40B4-BE49-F238E27FC236}">
                  <a16:creationId xmlns:a16="http://schemas.microsoft.com/office/drawing/2014/main" id="{1E364F38-6F3A-476A-93E6-962EA817C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8" name="Freeform 16">
              <a:extLst>
                <a:ext uri="{FF2B5EF4-FFF2-40B4-BE49-F238E27FC236}">
                  <a16:creationId xmlns:a16="http://schemas.microsoft.com/office/drawing/2014/main" id="{35C335A4-1E67-4293-8BE2-DFB085D4F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9" name="Freeform 17">
              <a:extLst>
                <a:ext uri="{FF2B5EF4-FFF2-40B4-BE49-F238E27FC236}">
                  <a16:creationId xmlns:a16="http://schemas.microsoft.com/office/drawing/2014/main" id="{9A8A0F10-2C98-4297-9F92-5D9553392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0" name="Freeform 18">
              <a:extLst>
                <a:ext uri="{FF2B5EF4-FFF2-40B4-BE49-F238E27FC236}">
                  <a16:creationId xmlns:a16="http://schemas.microsoft.com/office/drawing/2014/main" id="{C3B112A3-006E-4008-A778-DB5F6A09D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1" name="Freeform 19">
              <a:extLst>
                <a:ext uri="{FF2B5EF4-FFF2-40B4-BE49-F238E27FC236}">
                  <a16:creationId xmlns:a16="http://schemas.microsoft.com/office/drawing/2014/main" id="{E5E62767-5C25-4C49-9568-432433A3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2" name="Freeform 20">
              <a:extLst>
                <a:ext uri="{FF2B5EF4-FFF2-40B4-BE49-F238E27FC236}">
                  <a16:creationId xmlns:a16="http://schemas.microsoft.com/office/drawing/2014/main" id="{598EC006-77B1-42BA-B815-66CCB9B17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3" name="Freeform 21">
              <a:extLst>
                <a:ext uri="{FF2B5EF4-FFF2-40B4-BE49-F238E27FC236}">
                  <a16:creationId xmlns:a16="http://schemas.microsoft.com/office/drawing/2014/main" id="{A144ED09-DA06-491D-95A8-AB3DED432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4" name="Freeform 22">
              <a:extLst>
                <a:ext uri="{FF2B5EF4-FFF2-40B4-BE49-F238E27FC236}">
                  <a16:creationId xmlns:a16="http://schemas.microsoft.com/office/drawing/2014/main" id="{1CB00BD2-11CD-4A38-8F38-02B0D11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20234FB-542E-4550-9C2F-1B56FD41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77" name="Freeform 27">
              <a:extLst>
                <a:ext uri="{FF2B5EF4-FFF2-40B4-BE49-F238E27FC236}">
                  <a16:creationId xmlns:a16="http://schemas.microsoft.com/office/drawing/2014/main" id="{41FCE1F3-DEB3-47CD-90FF-7DABB4AF4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8" name="Freeform 28">
              <a:extLst>
                <a:ext uri="{FF2B5EF4-FFF2-40B4-BE49-F238E27FC236}">
                  <a16:creationId xmlns:a16="http://schemas.microsoft.com/office/drawing/2014/main" id="{5708E488-C19B-452C-B197-6F1C34F6E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9" name="Freeform 29">
              <a:extLst>
                <a:ext uri="{FF2B5EF4-FFF2-40B4-BE49-F238E27FC236}">
                  <a16:creationId xmlns:a16="http://schemas.microsoft.com/office/drawing/2014/main" id="{89D3FD25-890E-4981-A71D-EE796873D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0" name="Freeform 30">
              <a:extLst>
                <a:ext uri="{FF2B5EF4-FFF2-40B4-BE49-F238E27FC236}">
                  <a16:creationId xmlns:a16="http://schemas.microsoft.com/office/drawing/2014/main" id="{51B5414C-556A-47CB-8EE2-974A85A7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1" name="Freeform 31">
              <a:extLst>
                <a:ext uri="{FF2B5EF4-FFF2-40B4-BE49-F238E27FC236}">
                  <a16:creationId xmlns:a16="http://schemas.microsoft.com/office/drawing/2014/main" id="{1C02B20C-2B27-4B75-8AEE-A5D2E2674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2" name="Freeform 32">
              <a:extLst>
                <a:ext uri="{FF2B5EF4-FFF2-40B4-BE49-F238E27FC236}">
                  <a16:creationId xmlns:a16="http://schemas.microsoft.com/office/drawing/2014/main" id="{54427714-F9AA-4F93-BD1D-400F1EA93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3" name="Freeform 33">
              <a:extLst>
                <a:ext uri="{FF2B5EF4-FFF2-40B4-BE49-F238E27FC236}">
                  <a16:creationId xmlns:a16="http://schemas.microsoft.com/office/drawing/2014/main" id="{28A77D6A-9E81-497F-ABCC-2695BB5AD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4" name="Freeform 34">
              <a:extLst>
                <a:ext uri="{FF2B5EF4-FFF2-40B4-BE49-F238E27FC236}">
                  <a16:creationId xmlns:a16="http://schemas.microsoft.com/office/drawing/2014/main" id="{2A1533BA-1478-4F7C-8E24-3F3E90505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5" name="Freeform 35">
              <a:extLst>
                <a:ext uri="{FF2B5EF4-FFF2-40B4-BE49-F238E27FC236}">
                  <a16:creationId xmlns:a16="http://schemas.microsoft.com/office/drawing/2014/main" id="{39686201-E633-40FD-A80A-1E28AD52E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6" name="Freeform 36">
              <a:extLst>
                <a:ext uri="{FF2B5EF4-FFF2-40B4-BE49-F238E27FC236}">
                  <a16:creationId xmlns:a16="http://schemas.microsoft.com/office/drawing/2014/main" id="{76A215C2-F590-4938-810B-F8A79366C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7" name="Freeform 37">
              <a:extLst>
                <a:ext uri="{FF2B5EF4-FFF2-40B4-BE49-F238E27FC236}">
                  <a16:creationId xmlns:a16="http://schemas.microsoft.com/office/drawing/2014/main" id="{85F418E7-330D-4002-8EC8-33C1A897F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8" name="Freeform 38">
              <a:extLst>
                <a:ext uri="{FF2B5EF4-FFF2-40B4-BE49-F238E27FC236}">
                  <a16:creationId xmlns:a16="http://schemas.microsoft.com/office/drawing/2014/main" id="{8FFE669A-54C9-4436-9566-C5A90F16D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90" name="Rectangle 89">
            <a:extLst>
              <a:ext uri="{FF2B5EF4-FFF2-40B4-BE49-F238E27FC236}">
                <a16:creationId xmlns:a16="http://schemas.microsoft.com/office/drawing/2014/main" id="{DE91395A-2D18-4AF6-A0AC-AAA7189F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2" name="Freeform 11">
            <a:extLst>
              <a:ext uri="{FF2B5EF4-FFF2-40B4-BE49-F238E27FC236}">
                <a16:creationId xmlns:a16="http://schemas.microsoft.com/office/drawing/2014/main" id="{A57352BE-A213-4040-BE8E-D4A925AD9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B2EC7880-C5D9-40A8-A6B0-3198AD07A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4619543" cy="6854038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0B2F7D-97F6-8FA1-E1B9-F8AF11BBD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300" b="1"/>
              <a:t>Profit By Product Category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C404C1-27FA-E94A-7422-B7DB4E713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5" y="2133600"/>
            <a:ext cx="3650278" cy="3759253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Wingdings 3" charset="2"/>
              <a:buChar char=""/>
            </a:pPr>
            <a:r>
              <a:rPr lang="en-US"/>
              <a:t>Profit is distributed across multiple product categories.</a:t>
            </a:r>
          </a:p>
          <a:p>
            <a:pPr marL="342900" indent="-342900">
              <a:buFont typeface="Wingdings 3" charset="2"/>
              <a:buChar char=""/>
            </a:pPr>
            <a:r>
              <a:rPr lang="en-US"/>
              <a:t> Dresses and Accessories contribute slightly higher profit. </a:t>
            </a:r>
          </a:p>
          <a:p>
            <a:pPr marL="342900" indent="-342900">
              <a:buFont typeface="Wingdings 3" charset="2"/>
              <a:buChar char=""/>
            </a:pPr>
            <a:r>
              <a:rPr lang="en-US"/>
              <a:t>Product categories perform consistently overall.</a:t>
            </a: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72DCB341-7DDA-F8CC-2D69-8549F2D16F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702" y="0"/>
            <a:ext cx="7526073" cy="686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212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7398C59F-5A18-487B-91D6-B955AACF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59" name="Freeform 11">
              <a:extLst>
                <a:ext uri="{FF2B5EF4-FFF2-40B4-BE49-F238E27FC236}">
                  <a16:creationId xmlns:a16="http://schemas.microsoft.com/office/drawing/2014/main" id="{0557FAFE-C7C3-47EC-A4F5-9B2166319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0" name="Freeform 12">
              <a:extLst>
                <a:ext uri="{FF2B5EF4-FFF2-40B4-BE49-F238E27FC236}">
                  <a16:creationId xmlns:a16="http://schemas.microsoft.com/office/drawing/2014/main" id="{95BC28FB-3882-4674-9D79-EA58BEB7C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1" name="Freeform 13">
              <a:extLst>
                <a:ext uri="{FF2B5EF4-FFF2-40B4-BE49-F238E27FC236}">
                  <a16:creationId xmlns:a16="http://schemas.microsoft.com/office/drawing/2014/main" id="{9C6EC892-83F9-402F-8552-0AD7C055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2" name="Freeform 14">
              <a:extLst>
                <a:ext uri="{FF2B5EF4-FFF2-40B4-BE49-F238E27FC236}">
                  <a16:creationId xmlns:a16="http://schemas.microsoft.com/office/drawing/2014/main" id="{18387766-037C-4EF0-8471-D19CBF2A4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3" name="Freeform 15">
              <a:extLst>
                <a:ext uri="{FF2B5EF4-FFF2-40B4-BE49-F238E27FC236}">
                  <a16:creationId xmlns:a16="http://schemas.microsoft.com/office/drawing/2014/main" id="{1E364F38-6F3A-476A-93E6-962EA817C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4" name="Freeform 16">
              <a:extLst>
                <a:ext uri="{FF2B5EF4-FFF2-40B4-BE49-F238E27FC236}">
                  <a16:creationId xmlns:a16="http://schemas.microsoft.com/office/drawing/2014/main" id="{35C335A4-1E67-4293-8BE2-DFB085D4F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5" name="Freeform 17">
              <a:extLst>
                <a:ext uri="{FF2B5EF4-FFF2-40B4-BE49-F238E27FC236}">
                  <a16:creationId xmlns:a16="http://schemas.microsoft.com/office/drawing/2014/main" id="{9A8A0F10-2C98-4297-9F92-5D9553392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6" name="Freeform 18">
              <a:extLst>
                <a:ext uri="{FF2B5EF4-FFF2-40B4-BE49-F238E27FC236}">
                  <a16:creationId xmlns:a16="http://schemas.microsoft.com/office/drawing/2014/main" id="{C3B112A3-006E-4008-A778-DB5F6A09D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7" name="Freeform 19">
              <a:extLst>
                <a:ext uri="{FF2B5EF4-FFF2-40B4-BE49-F238E27FC236}">
                  <a16:creationId xmlns:a16="http://schemas.microsoft.com/office/drawing/2014/main" id="{E5E62767-5C25-4C49-9568-432433A3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8" name="Freeform 20">
              <a:extLst>
                <a:ext uri="{FF2B5EF4-FFF2-40B4-BE49-F238E27FC236}">
                  <a16:creationId xmlns:a16="http://schemas.microsoft.com/office/drawing/2014/main" id="{598EC006-77B1-42BA-B815-66CCB9B17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9" name="Freeform 21">
              <a:extLst>
                <a:ext uri="{FF2B5EF4-FFF2-40B4-BE49-F238E27FC236}">
                  <a16:creationId xmlns:a16="http://schemas.microsoft.com/office/drawing/2014/main" id="{A144ED09-DA06-491D-95A8-AB3DED432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0" name="Freeform 22">
              <a:extLst>
                <a:ext uri="{FF2B5EF4-FFF2-40B4-BE49-F238E27FC236}">
                  <a16:creationId xmlns:a16="http://schemas.microsoft.com/office/drawing/2014/main" id="{1CB00BD2-11CD-4A38-8F38-02B0D11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20234FB-542E-4550-9C2F-1B56FD41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73" name="Freeform 27">
              <a:extLst>
                <a:ext uri="{FF2B5EF4-FFF2-40B4-BE49-F238E27FC236}">
                  <a16:creationId xmlns:a16="http://schemas.microsoft.com/office/drawing/2014/main" id="{41FCE1F3-DEB3-47CD-90FF-7DABB4AF4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4" name="Freeform 28">
              <a:extLst>
                <a:ext uri="{FF2B5EF4-FFF2-40B4-BE49-F238E27FC236}">
                  <a16:creationId xmlns:a16="http://schemas.microsoft.com/office/drawing/2014/main" id="{5708E488-C19B-452C-B197-6F1C34F6E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5" name="Freeform 29">
              <a:extLst>
                <a:ext uri="{FF2B5EF4-FFF2-40B4-BE49-F238E27FC236}">
                  <a16:creationId xmlns:a16="http://schemas.microsoft.com/office/drawing/2014/main" id="{89D3FD25-890E-4981-A71D-EE796873D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6" name="Freeform 30">
              <a:extLst>
                <a:ext uri="{FF2B5EF4-FFF2-40B4-BE49-F238E27FC236}">
                  <a16:creationId xmlns:a16="http://schemas.microsoft.com/office/drawing/2014/main" id="{51B5414C-556A-47CB-8EE2-974A85A7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7" name="Freeform 31">
              <a:extLst>
                <a:ext uri="{FF2B5EF4-FFF2-40B4-BE49-F238E27FC236}">
                  <a16:creationId xmlns:a16="http://schemas.microsoft.com/office/drawing/2014/main" id="{1C02B20C-2B27-4B75-8AEE-A5D2E2674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8" name="Freeform 32">
              <a:extLst>
                <a:ext uri="{FF2B5EF4-FFF2-40B4-BE49-F238E27FC236}">
                  <a16:creationId xmlns:a16="http://schemas.microsoft.com/office/drawing/2014/main" id="{54427714-F9AA-4F93-BD1D-400F1EA93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9" name="Freeform 33">
              <a:extLst>
                <a:ext uri="{FF2B5EF4-FFF2-40B4-BE49-F238E27FC236}">
                  <a16:creationId xmlns:a16="http://schemas.microsoft.com/office/drawing/2014/main" id="{28A77D6A-9E81-497F-ABCC-2695BB5AD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0" name="Freeform 34">
              <a:extLst>
                <a:ext uri="{FF2B5EF4-FFF2-40B4-BE49-F238E27FC236}">
                  <a16:creationId xmlns:a16="http://schemas.microsoft.com/office/drawing/2014/main" id="{2A1533BA-1478-4F7C-8E24-3F3E90505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1" name="Freeform 35">
              <a:extLst>
                <a:ext uri="{FF2B5EF4-FFF2-40B4-BE49-F238E27FC236}">
                  <a16:creationId xmlns:a16="http://schemas.microsoft.com/office/drawing/2014/main" id="{39686201-E633-40FD-A80A-1E28AD52E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2" name="Freeform 36">
              <a:extLst>
                <a:ext uri="{FF2B5EF4-FFF2-40B4-BE49-F238E27FC236}">
                  <a16:creationId xmlns:a16="http://schemas.microsoft.com/office/drawing/2014/main" id="{76A215C2-F590-4938-810B-F8A79366C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3" name="Freeform 37">
              <a:extLst>
                <a:ext uri="{FF2B5EF4-FFF2-40B4-BE49-F238E27FC236}">
                  <a16:creationId xmlns:a16="http://schemas.microsoft.com/office/drawing/2014/main" id="{85F418E7-330D-4002-8EC8-33C1A897F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4" name="Freeform 38">
              <a:extLst>
                <a:ext uri="{FF2B5EF4-FFF2-40B4-BE49-F238E27FC236}">
                  <a16:creationId xmlns:a16="http://schemas.microsoft.com/office/drawing/2014/main" id="{8FFE669A-54C9-4436-9566-C5A90F16D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86" name="Rectangle 85">
            <a:extLst>
              <a:ext uri="{FF2B5EF4-FFF2-40B4-BE49-F238E27FC236}">
                <a16:creationId xmlns:a16="http://schemas.microsoft.com/office/drawing/2014/main" id="{DE91395A-2D18-4AF6-A0AC-AAA7189F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8" name="Freeform 11">
            <a:extLst>
              <a:ext uri="{FF2B5EF4-FFF2-40B4-BE49-F238E27FC236}">
                <a16:creationId xmlns:a16="http://schemas.microsoft.com/office/drawing/2014/main" id="{A57352BE-A213-4040-BE8E-D4A925AD9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B2EC7880-C5D9-40A8-A6B0-3198AD07A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4619543" cy="6854038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DF6097-52CF-7411-1234-B0E1FCDA8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b="1"/>
              <a:t>Units Sold by Product Category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8EB75-BE0A-07A6-58CD-87AF9DF508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5" y="2133600"/>
            <a:ext cx="3650278" cy="3759253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Wingdings 3" charset="2"/>
              <a:buChar char=""/>
            </a:pPr>
            <a:r>
              <a:rPr lang="en-US"/>
              <a:t>Units sold are balanced across all product categories. </a:t>
            </a:r>
          </a:p>
          <a:p>
            <a:pPr marL="342900" indent="-342900">
              <a:buFont typeface="Wingdings 3" charset="2"/>
              <a:buChar char=""/>
            </a:pPr>
            <a:r>
              <a:rPr lang="en-US"/>
              <a:t>Dresses and Jeans show slightly higher product demand.</a:t>
            </a:r>
          </a:p>
          <a:p>
            <a:pPr marL="342900" indent="-342900">
              <a:buFont typeface="Wingdings 3" charset="2"/>
              <a:buChar char=""/>
            </a:pPr>
            <a:r>
              <a:rPr lang="en-US"/>
              <a:t> Indicates stable customer demand pattern.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10516414-BBD2-3730-BFA7-C5756114AE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508" y="-100483"/>
            <a:ext cx="7565492" cy="696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4107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7398C59F-5A18-487B-91D6-B955AACF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0557FAFE-C7C3-47EC-A4F5-9B2166319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95BC28FB-3882-4674-9D79-EA58BEB7C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9C6EC892-83F9-402F-8552-0AD7C055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18387766-037C-4EF0-8471-D19CBF2A4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1E364F38-6F3A-476A-93E6-962EA817C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35C335A4-1E67-4293-8BE2-DFB085D4F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9A8A0F10-2C98-4297-9F92-5D9553392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C3B112A3-006E-4008-A778-DB5F6A09D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E5E62767-5C25-4C49-9568-432433A3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598EC006-77B1-42BA-B815-66CCB9B17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A144ED09-DA06-491D-95A8-AB3DED432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1CB00BD2-11CD-4A38-8F38-02B0D11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20234FB-542E-4550-9C2F-1B56FD41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30" name="Freeform 27">
              <a:extLst>
                <a:ext uri="{FF2B5EF4-FFF2-40B4-BE49-F238E27FC236}">
                  <a16:creationId xmlns:a16="http://schemas.microsoft.com/office/drawing/2014/main" id="{41FCE1F3-DEB3-47CD-90FF-7DABB4AF4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5708E488-C19B-452C-B197-6F1C34F6E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id="{89D3FD25-890E-4981-A71D-EE796873D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0">
              <a:extLst>
                <a:ext uri="{FF2B5EF4-FFF2-40B4-BE49-F238E27FC236}">
                  <a16:creationId xmlns:a16="http://schemas.microsoft.com/office/drawing/2014/main" id="{51B5414C-556A-47CB-8EE2-974A85A7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1">
              <a:extLst>
                <a:ext uri="{FF2B5EF4-FFF2-40B4-BE49-F238E27FC236}">
                  <a16:creationId xmlns:a16="http://schemas.microsoft.com/office/drawing/2014/main" id="{1C02B20C-2B27-4B75-8AEE-A5D2E2674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54427714-F9AA-4F93-BD1D-400F1EA93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6" name="Freeform 33">
              <a:extLst>
                <a:ext uri="{FF2B5EF4-FFF2-40B4-BE49-F238E27FC236}">
                  <a16:creationId xmlns:a16="http://schemas.microsoft.com/office/drawing/2014/main" id="{28A77D6A-9E81-497F-ABCC-2695BB5AD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7" name="Freeform 34">
              <a:extLst>
                <a:ext uri="{FF2B5EF4-FFF2-40B4-BE49-F238E27FC236}">
                  <a16:creationId xmlns:a16="http://schemas.microsoft.com/office/drawing/2014/main" id="{2A1533BA-1478-4F7C-8E24-3F3E90505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8" name="Freeform 35">
              <a:extLst>
                <a:ext uri="{FF2B5EF4-FFF2-40B4-BE49-F238E27FC236}">
                  <a16:creationId xmlns:a16="http://schemas.microsoft.com/office/drawing/2014/main" id="{39686201-E633-40FD-A80A-1E28AD52E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9" name="Freeform 36">
              <a:extLst>
                <a:ext uri="{FF2B5EF4-FFF2-40B4-BE49-F238E27FC236}">
                  <a16:creationId xmlns:a16="http://schemas.microsoft.com/office/drawing/2014/main" id="{76A215C2-F590-4938-810B-F8A79366C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40" name="Freeform 37">
              <a:extLst>
                <a:ext uri="{FF2B5EF4-FFF2-40B4-BE49-F238E27FC236}">
                  <a16:creationId xmlns:a16="http://schemas.microsoft.com/office/drawing/2014/main" id="{85F418E7-330D-4002-8EC8-33C1A897F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41" name="Freeform 38">
              <a:extLst>
                <a:ext uri="{FF2B5EF4-FFF2-40B4-BE49-F238E27FC236}">
                  <a16:creationId xmlns:a16="http://schemas.microsoft.com/office/drawing/2014/main" id="{8FFE669A-54C9-4436-9566-C5A90F16D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DE91395A-2D18-4AF6-A0AC-AAA7189F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8" name="Freeform 11">
            <a:extLst>
              <a:ext uri="{FF2B5EF4-FFF2-40B4-BE49-F238E27FC236}">
                <a16:creationId xmlns:a16="http://schemas.microsoft.com/office/drawing/2014/main" id="{A57352BE-A213-4040-BE8E-D4A925AD9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2EC7880-C5D9-40A8-A6B0-3198AD07A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4619543" cy="6854038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C366BF-4119-5689-34F3-04933FC21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b="1"/>
              <a:t>Sales Amount by Year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9C0412-F140-A4E4-3F33-BC9E175B38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5" y="2133600"/>
            <a:ext cx="3650278" cy="3759253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Wingdings 3" charset="2"/>
              <a:buChar char=""/>
            </a:pPr>
            <a:r>
              <a:rPr lang="en-US"/>
              <a:t>Sales revenue increased gradually over the years. </a:t>
            </a:r>
          </a:p>
          <a:p>
            <a:pPr marL="342900" indent="-342900">
              <a:buFont typeface="Wingdings 3" charset="2"/>
              <a:buChar char=""/>
            </a:pPr>
            <a:r>
              <a:rPr lang="en-US"/>
              <a:t>2025 recorded the highest sales amount. </a:t>
            </a:r>
          </a:p>
          <a:p>
            <a:pPr marL="342900" indent="-342900">
              <a:buFont typeface="Wingdings 3" charset="2"/>
              <a:buChar char=""/>
            </a:pPr>
            <a:r>
              <a:rPr lang="en-US"/>
              <a:t>Indicates positive business growth trend. </a:t>
            </a:r>
          </a:p>
          <a:p>
            <a:pPr>
              <a:buFont typeface="Wingdings 3" charset="2"/>
              <a:buChar char=""/>
            </a:pPr>
            <a:endParaRPr lang="en-US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A2E4A05B-F15E-EF75-7FF9-5FB5441B1D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543" y="-14758"/>
            <a:ext cx="7572457" cy="686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1051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7398C59F-5A18-487B-91D6-B955AACF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0557FAFE-C7C3-47EC-A4F5-9B2166319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95BC28FB-3882-4674-9D79-EA58BEB7C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9C6EC892-83F9-402F-8552-0AD7C055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18387766-037C-4EF0-8471-D19CBF2A4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1E364F38-6F3A-476A-93E6-962EA817C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35C335A4-1E67-4293-8BE2-DFB085D4F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9A8A0F10-2C98-4297-9F92-5D9553392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C3B112A3-006E-4008-A778-DB5F6A09D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E5E62767-5C25-4C49-9568-432433A3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598EC006-77B1-42BA-B815-66CCB9B17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A144ED09-DA06-491D-95A8-AB3DED432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1CB00BD2-11CD-4A38-8F38-02B0D11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20234FB-542E-4550-9C2F-1B56FD41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30" name="Freeform 27">
              <a:extLst>
                <a:ext uri="{FF2B5EF4-FFF2-40B4-BE49-F238E27FC236}">
                  <a16:creationId xmlns:a16="http://schemas.microsoft.com/office/drawing/2014/main" id="{41FCE1F3-DEB3-47CD-90FF-7DABB4AF4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5708E488-C19B-452C-B197-6F1C34F6E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id="{89D3FD25-890E-4981-A71D-EE796873D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0">
              <a:extLst>
                <a:ext uri="{FF2B5EF4-FFF2-40B4-BE49-F238E27FC236}">
                  <a16:creationId xmlns:a16="http://schemas.microsoft.com/office/drawing/2014/main" id="{51B5414C-556A-47CB-8EE2-974A85A7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1">
              <a:extLst>
                <a:ext uri="{FF2B5EF4-FFF2-40B4-BE49-F238E27FC236}">
                  <a16:creationId xmlns:a16="http://schemas.microsoft.com/office/drawing/2014/main" id="{1C02B20C-2B27-4B75-8AEE-A5D2E2674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54427714-F9AA-4F93-BD1D-400F1EA93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6" name="Freeform 33">
              <a:extLst>
                <a:ext uri="{FF2B5EF4-FFF2-40B4-BE49-F238E27FC236}">
                  <a16:creationId xmlns:a16="http://schemas.microsoft.com/office/drawing/2014/main" id="{28A77D6A-9E81-497F-ABCC-2695BB5AD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7" name="Freeform 34">
              <a:extLst>
                <a:ext uri="{FF2B5EF4-FFF2-40B4-BE49-F238E27FC236}">
                  <a16:creationId xmlns:a16="http://schemas.microsoft.com/office/drawing/2014/main" id="{2A1533BA-1478-4F7C-8E24-3F3E90505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8" name="Freeform 35">
              <a:extLst>
                <a:ext uri="{FF2B5EF4-FFF2-40B4-BE49-F238E27FC236}">
                  <a16:creationId xmlns:a16="http://schemas.microsoft.com/office/drawing/2014/main" id="{39686201-E633-40FD-A80A-1E28AD52E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9" name="Freeform 36">
              <a:extLst>
                <a:ext uri="{FF2B5EF4-FFF2-40B4-BE49-F238E27FC236}">
                  <a16:creationId xmlns:a16="http://schemas.microsoft.com/office/drawing/2014/main" id="{76A215C2-F590-4938-810B-F8A79366C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40" name="Freeform 37">
              <a:extLst>
                <a:ext uri="{FF2B5EF4-FFF2-40B4-BE49-F238E27FC236}">
                  <a16:creationId xmlns:a16="http://schemas.microsoft.com/office/drawing/2014/main" id="{85F418E7-330D-4002-8EC8-33C1A897F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41" name="Freeform 38">
              <a:extLst>
                <a:ext uri="{FF2B5EF4-FFF2-40B4-BE49-F238E27FC236}">
                  <a16:creationId xmlns:a16="http://schemas.microsoft.com/office/drawing/2014/main" id="{8FFE669A-54C9-4436-9566-C5A90F16D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DE91395A-2D18-4AF6-A0AC-AAA7189F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5" name="Freeform 11">
            <a:extLst>
              <a:ext uri="{FF2B5EF4-FFF2-40B4-BE49-F238E27FC236}">
                <a16:creationId xmlns:a16="http://schemas.microsoft.com/office/drawing/2014/main" id="{A57352BE-A213-4040-BE8E-D4A925AD9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2EC7880-C5D9-40A8-A6B0-3198AD07A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4619543" cy="6854038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907B3B-0A82-914F-53E7-1EB2DAC46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b="1"/>
              <a:t>Profit Trend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748EEE-6930-EFFF-D337-5CF55C1C2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5" y="2133600"/>
            <a:ext cx="3650278" cy="3759253"/>
          </a:xfrm>
        </p:spPr>
        <p:txBody>
          <a:bodyPr vert="horz" lIns="91440" tIns="45720" rIns="91440" bIns="45720" rtlCol="0">
            <a:normAutofit/>
          </a:bodyPr>
          <a:lstStyle/>
          <a:p>
            <a:pPr marL="457200" indent="-457200">
              <a:buFont typeface="Wingdings 3" charset="2"/>
              <a:buChar char=""/>
            </a:pPr>
            <a:r>
              <a:rPr lang="en-US"/>
              <a:t>Profit decreased significantly during 2023. </a:t>
            </a:r>
          </a:p>
          <a:p>
            <a:pPr marL="457200" indent="-457200">
              <a:buFont typeface="Wingdings 3" charset="2"/>
              <a:buChar char=""/>
            </a:pPr>
            <a:r>
              <a:rPr lang="en-US"/>
              <a:t>Recovery started from 2024 onward. </a:t>
            </a:r>
          </a:p>
          <a:p>
            <a:pPr marL="457200" indent="-457200">
              <a:buFont typeface="Wingdings 3" charset="2"/>
              <a:buChar char=""/>
            </a:pPr>
            <a:r>
              <a:rPr lang="en-US"/>
              <a:t>Highest profit growth observed in 2025. </a:t>
            </a:r>
          </a:p>
          <a:p>
            <a:pPr>
              <a:buFont typeface="Wingdings 3" charset="2"/>
              <a:buChar char=""/>
            </a:pPr>
            <a:endParaRPr lang="en-US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DA0D8114-5791-30C6-4AD7-91585DFB4A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961" y="4748"/>
            <a:ext cx="7607030" cy="6848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1930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9EE869B-085D-43B3-AED8-9B0655612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54E744A-A072-47AF-981A-3718617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8229600" cy="6858000"/>
          </a:xfrm>
          <a:prstGeom prst="rect">
            <a:avLst/>
          </a:prstGeom>
          <a:solidFill>
            <a:schemeClr val="tx2">
              <a:lumMod val="1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 descr="Digital financial graph">
            <a:extLst>
              <a:ext uri="{FF2B5EF4-FFF2-40B4-BE49-F238E27FC236}">
                <a16:creationId xmlns:a16="http://schemas.microsoft.com/office/drawing/2014/main" id="{B94C9F7A-EC5C-A889-E1DB-8AC30547A7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864" r="22635"/>
          <a:stretch>
            <a:fillRect/>
          </a:stretch>
        </p:blipFill>
        <p:spPr>
          <a:xfrm>
            <a:off x="8229598" y="10"/>
            <a:ext cx="3962401" cy="6857990"/>
          </a:xfrm>
          <a:prstGeom prst="rect">
            <a:avLst/>
          </a:prstGeom>
        </p:spPr>
      </p:pic>
      <p:sp>
        <p:nvSpPr>
          <p:cNvPr id="26" name="Freeform 5">
            <a:extLst>
              <a:ext uri="{FF2B5EF4-FFF2-40B4-BE49-F238E27FC236}">
                <a16:creationId xmlns:a16="http://schemas.microsoft.com/office/drawing/2014/main" id="{F0254341-1068-4FB7-8AEF-220C6EB41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59027"/>
            <a:ext cx="9042690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190D9B9-BD7E-F49C-7641-BE8F7C4A2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787400"/>
            <a:ext cx="7145866" cy="778933"/>
          </a:xfrm>
        </p:spPr>
        <p:txBody>
          <a:bodyPr anchor="ctr">
            <a:normAutofit/>
          </a:bodyPr>
          <a:lstStyle/>
          <a:p>
            <a:r>
              <a:rPr lang="en-IN" sz="3200" b="1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Conclusion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E48D358-7A5C-6B64-9024-3E8D9EBC2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866" y="2032000"/>
            <a:ext cx="7145867" cy="387922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1300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sales data analysis project successfully transformed raw business data into meaningful insights using </a:t>
            </a:r>
            <a:r>
              <a:rPr lang="en-IN" sz="1300" b="1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Python, Excel, and</a:t>
            </a:r>
            <a:r>
              <a:rPr lang="en-IN" sz="1300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Microsoft Power BI.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IN" sz="1300" b="1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Findings</a:t>
            </a:r>
            <a:endParaRPr lang="en-IN" sz="1300">
              <a:solidFill>
                <a:srgbClr val="FE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IN" sz="1300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The business generated a </a:t>
            </a:r>
            <a:r>
              <a:rPr lang="en-IN" sz="1300" b="1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profit of 2.45M</a:t>
            </a:r>
            <a:r>
              <a:rPr lang="en-IN" sz="1300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showing strong overall performance.</a:t>
            </a:r>
          </a:p>
          <a:p>
            <a:pPr>
              <a:lnSpc>
                <a:spcPct val="90000"/>
              </a:lnSpc>
            </a:pPr>
            <a:r>
              <a:rPr lang="en-IN" sz="1300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N" sz="1300" b="1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Bulk/B2B orders contributed the highest sales volume</a:t>
            </a:r>
            <a:r>
              <a:rPr lang="en-IN" sz="1300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making them an important revenue driver.</a:t>
            </a:r>
          </a:p>
          <a:p>
            <a:pPr>
              <a:lnSpc>
                <a:spcPct val="90000"/>
              </a:lnSpc>
            </a:pPr>
            <a:r>
              <a:rPr lang="en-IN" sz="1300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N" sz="1300" b="1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Mumbai and other major cities generated higher sales</a:t>
            </a:r>
            <a:r>
              <a:rPr lang="en-IN" sz="1300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strong regional performance.</a:t>
            </a:r>
          </a:p>
          <a:p>
            <a:pPr>
              <a:lnSpc>
                <a:spcPct val="90000"/>
              </a:lnSpc>
            </a:pPr>
            <a:r>
              <a:rPr lang="en-IN" sz="1300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Product categories showed </a:t>
            </a:r>
            <a:r>
              <a:rPr lang="en-IN" sz="1300" b="1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balanced demand</a:t>
            </a:r>
            <a:r>
              <a:rPr lang="en-IN" sz="1300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with some categories contributing slightly higher profit.</a:t>
            </a:r>
          </a:p>
          <a:p>
            <a:pPr>
              <a:lnSpc>
                <a:spcPct val="90000"/>
              </a:lnSpc>
            </a:pPr>
            <a:r>
              <a:rPr lang="en-IN" sz="1300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Business experienced a </a:t>
            </a:r>
            <a:r>
              <a:rPr lang="en-IN" sz="1300" b="1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 decline in 2023</a:t>
            </a:r>
            <a:r>
              <a:rPr lang="en-IN" sz="1300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followed by strong recovery and growth in </a:t>
            </a:r>
            <a:r>
              <a:rPr lang="en-IN" sz="1300" b="1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2024–2025</a:t>
            </a:r>
            <a:r>
              <a:rPr lang="en-IN" sz="1300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IN" sz="1300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Discount percentages remained </a:t>
            </a:r>
            <a:r>
              <a:rPr lang="en-IN" sz="1300" b="1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consistent across product categories</a:t>
            </a:r>
            <a:r>
              <a:rPr lang="en-IN" sz="1300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reflecting a stable pricing strategy.</a:t>
            </a:r>
          </a:p>
          <a:p>
            <a:pPr>
              <a:lnSpc>
                <a:spcPct val="90000"/>
              </a:lnSpc>
            </a:pPr>
            <a:r>
              <a:rPr lang="en-IN" sz="1300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The interactive dashboard enables </a:t>
            </a:r>
            <a:r>
              <a:rPr lang="en-IN" sz="1300" b="1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monitoring of sales, profit, product performance, and business growth trends</a:t>
            </a:r>
            <a:r>
              <a:rPr lang="en-IN" sz="1300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90000"/>
              </a:lnSpc>
            </a:pPr>
            <a:endParaRPr lang="en-IN" sz="1300" dirty="0">
              <a:solidFill>
                <a:srgbClr val="FE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417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542</TotalTime>
  <Words>784</Words>
  <Application>Microsoft Office PowerPoint</Application>
  <PresentationFormat>Widescreen</PresentationFormat>
  <Paragraphs>98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Century Gothic</vt:lpstr>
      <vt:lpstr>Wingdings</vt:lpstr>
      <vt:lpstr>Wingdings 3</vt:lpstr>
      <vt:lpstr>Wisp</vt:lpstr>
      <vt:lpstr>Data Analysis &amp; Business Insights Dashboard</vt:lpstr>
      <vt:lpstr>Business Problem Statement</vt:lpstr>
      <vt:lpstr>Project Workflow</vt:lpstr>
      <vt:lpstr>Technology Uses</vt:lpstr>
      <vt:lpstr>Data Preparation</vt:lpstr>
      <vt:lpstr>Customers Segment by Orders</vt:lpstr>
      <vt:lpstr>Year Wise Profit</vt:lpstr>
      <vt:lpstr>Sales By City </vt:lpstr>
      <vt:lpstr>Product Category Distribution</vt:lpstr>
      <vt:lpstr>Average Discount By Product Category</vt:lpstr>
      <vt:lpstr>Interactive Dashboard</vt:lpstr>
      <vt:lpstr>KPI Cards Analysis</vt:lpstr>
      <vt:lpstr>Order Type Distribution</vt:lpstr>
      <vt:lpstr>Profit By Product Category</vt:lpstr>
      <vt:lpstr>Units Sold by Product Category</vt:lpstr>
      <vt:lpstr>Sales Amount by Year</vt:lpstr>
      <vt:lpstr>Profit Trend Analysis</vt:lpstr>
      <vt:lpstr>Project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Sharvari Puranik</dc:creator>
  <cp:lastModifiedBy>Sharvari Puranik</cp:lastModifiedBy>
  <cp:revision>1</cp:revision>
  <dcterms:created xsi:type="dcterms:W3CDTF">2026-07-02T08:36:52Z</dcterms:created>
  <dcterms:modified xsi:type="dcterms:W3CDTF">2026-07-02T17:39:19Z</dcterms:modified>
</cp:coreProperties>
</file>